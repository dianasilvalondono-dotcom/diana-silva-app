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D4E57"/>
        </a:solidFill>
      </p:bgPr>
    </p:bg>
    <p:spTree>
      <p:nvGrpSpPr>
        <p:cNvPr id="1" name=""/>
        <p:cNvGrpSpPr/>
        <p:nvPr/>
      </p:nvGrpSpPr>
      <p:grpSpPr>
        <a:xfrm>
          <a:off x="0" y="0"/>
          <a:ext cx="0" cy="0"/>
          <a:chOff x="0" y="0"/>
          <a:chExt cx="0" cy="0"/>
        </a:xfrm>
      </p:grpSpPr>
      <p:sp>
        <p:nvSpPr>
          <p:cNvPr id="2" name="Shape 0"/>
          <p:cNvSpPr/>
          <p:nvPr/>
        </p:nvSpPr>
        <p:spPr>
          <a:xfrm>
            <a:off x="-1371600" y="-914400"/>
            <a:ext cx="4572000" cy="4572000"/>
          </a:xfrm>
          <a:prstGeom prst="ellipse">
            <a:avLst/>
          </a:prstGeom>
          <a:solidFill>
            <a:srgbClr val="3D3232">
              <a:alpha val="30000"/>
            </a:srgbClr>
          </a:solidFill>
          <a:ln/>
        </p:spPr>
      </p:sp>
      <p:sp>
        <p:nvSpPr>
          <p:cNvPr id="3" name="Shape 1"/>
          <p:cNvSpPr/>
          <p:nvPr/>
        </p:nvSpPr>
        <p:spPr>
          <a:xfrm>
            <a:off x="6400800" y="2286000"/>
            <a:ext cx="4114800" cy="4114800"/>
          </a:xfrm>
          <a:prstGeom prst="ellipse">
            <a:avLst/>
          </a:prstGeom>
          <a:solidFill>
            <a:srgbClr val="C9A96E">
              <a:alpha val="15000"/>
            </a:srgbClr>
          </a:solidFill>
          <a:ln/>
        </p:spPr>
      </p:sp>
      <p:sp>
        <p:nvSpPr>
          <p:cNvPr id="4" name="Shape 2"/>
          <p:cNvSpPr/>
          <p:nvPr/>
        </p:nvSpPr>
        <p:spPr>
          <a:xfrm>
            <a:off x="1097280" y="1645920"/>
            <a:ext cx="1371600" cy="36576"/>
          </a:xfrm>
          <a:prstGeom prst="rect">
            <a:avLst/>
          </a:prstGeom>
          <a:solidFill>
            <a:srgbClr val="C9A96E"/>
          </a:solidFill>
          <a:ln/>
        </p:spPr>
      </p:sp>
      <p:sp>
        <p:nvSpPr>
          <p:cNvPr id="5" name="Text 3"/>
          <p:cNvSpPr/>
          <p:nvPr/>
        </p:nvSpPr>
        <p:spPr>
          <a:xfrm>
            <a:off x="1097280" y="1828800"/>
            <a:ext cx="6400800" cy="1097280"/>
          </a:xfrm>
          <a:prstGeom prst="rect">
            <a:avLst/>
          </a:prstGeom>
          <a:noFill/>
          <a:ln/>
        </p:spPr>
        <p:txBody>
          <a:bodyPr wrap="square" lIns="0" tIns="0" rIns="0" bIns="0" rtlCol="0" anchor="ctr"/>
          <a:lstStyle/>
          <a:p>
            <a:pPr indent="0" marL="0">
              <a:buNone/>
            </a:pPr>
            <a:r>
              <a:rPr lang="en-US" sz="6000" b="1" spc="1200" kern="0" dirty="0">
                <a:solidFill>
                  <a:srgbClr val="FDF8F4"/>
                </a:solidFill>
                <a:latin typeface="Georgia" pitchFamily="34" charset="0"/>
                <a:ea typeface="Georgia" pitchFamily="34" charset="-122"/>
                <a:cs typeface="Georgia" pitchFamily="34" charset="-120"/>
              </a:rPr>
              <a:t>RONDA</a:t>
            </a:r>
            <a:endParaRPr lang="en-US" sz="6000" dirty="0"/>
          </a:p>
        </p:txBody>
      </p:sp>
      <p:sp>
        <p:nvSpPr>
          <p:cNvPr id="6" name="Text 4"/>
          <p:cNvSpPr/>
          <p:nvPr/>
        </p:nvSpPr>
        <p:spPr>
          <a:xfrm>
            <a:off x="1097280" y="2743200"/>
            <a:ext cx="6400800" cy="548640"/>
          </a:xfrm>
          <a:prstGeom prst="rect">
            <a:avLst/>
          </a:prstGeom>
          <a:noFill/>
          <a:ln/>
        </p:spPr>
        <p:txBody>
          <a:bodyPr wrap="square" lIns="0" tIns="0" rIns="0" bIns="0" rtlCol="0" anchor="ctr"/>
          <a:lstStyle/>
          <a:p>
            <a:pPr indent="0" marL="0">
              <a:buNone/>
            </a:pPr>
            <a:r>
              <a:rPr lang="en-US" sz="2200" i="1" dirty="0">
                <a:solidFill>
                  <a:srgbClr val="E8D5A8"/>
                </a:solidFill>
                <a:latin typeface="Calibri Light" pitchFamily="34" charset="0"/>
                <a:ea typeface="Calibri Light" pitchFamily="34" charset="-122"/>
                <a:cs typeface="Calibri Light" pitchFamily="34" charset="-120"/>
              </a:rPr>
              <a:t>Brand Book</a:t>
            </a:r>
            <a:endParaRPr lang="en-US" sz="2200" dirty="0"/>
          </a:p>
        </p:txBody>
      </p:sp>
      <p:sp>
        <p:nvSpPr>
          <p:cNvPr id="7" name="Text 5"/>
          <p:cNvSpPr/>
          <p:nvPr/>
        </p:nvSpPr>
        <p:spPr>
          <a:xfrm>
            <a:off x="1097280" y="3474720"/>
            <a:ext cx="6400800" cy="457200"/>
          </a:xfrm>
          <a:prstGeom prst="rect">
            <a:avLst/>
          </a:prstGeom>
          <a:noFill/>
          <a:ln/>
        </p:spPr>
        <p:txBody>
          <a:bodyPr wrap="square" lIns="0" tIns="0" rIns="0" bIns="0" rtlCol="0" anchor="ctr"/>
          <a:lstStyle/>
          <a:p>
            <a:pPr indent="0" marL="0">
              <a:buNone/>
            </a:pPr>
            <a:r>
              <a:rPr lang="en-US" sz="1600" i="1" dirty="0">
                <a:solidFill>
                  <a:srgbClr val="B5A5A5"/>
                </a:solidFill>
                <a:latin typeface="Georgia" pitchFamily="34" charset="0"/>
                <a:ea typeface="Georgia" pitchFamily="34" charset="-122"/>
                <a:cs typeface="Georgia" pitchFamily="34" charset="-120"/>
              </a:rPr>
              <a:t>Creces tú, crecemos todas</a:t>
            </a:r>
            <a:endParaRPr lang="en-US" sz="1600" dirty="0"/>
          </a:p>
        </p:txBody>
      </p:sp>
      <p:sp>
        <p:nvSpPr>
          <p:cNvPr id="8" name="Text 6"/>
          <p:cNvSpPr/>
          <p:nvPr/>
        </p:nvSpPr>
        <p:spPr>
          <a:xfrm>
            <a:off x="1097280" y="4572000"/>
            <a:ext cx="3657600" cy="274320"/>
          </a:xfrm>
          <a:prstGeom prst="rect">
            <a:avLst/>
          </a:prstGeom>
          <a:noFill/>
          <a:ln/>
        </p:spPr>
        <p:txBody>
          <a:bodyPr wrap="square" lIns="0" tIns="0" rIns="0" bIns="0" rtlCol="0" anchor="ctr"/>
          <a:lstStyle/>
          <a:p>
            <a:pPr indent="0" marL="0">
              <a:buNone/>
            </a:pPr>
            <a:r>
              <a:rPr lang="en-US" sz="1100" dirty="0">
                <a:solidFill>
                  <a:srgbClr val="B5A5A5"/>
                </a:solidFill>
                <a:latin typeface="Calibri" pitchFamily="34" charset="0"/>
                <a:ea typeface="Calibri" pitchFamily="34" charset="-122"/>
                <a:cs typeface="Calibri" pitchFamily="34" charset="-120"/>
              </a:rPr>
              <a:t>rondahub.com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8F4"/>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7D4E57"/>
          </a:solidFill>
          <a:ln/>
        </p:spPr>
      </p:sp>
      <p:sp>
        <p:nvSpPr>
          <p:cNvPr id="3" name="Text 1"/>
          <p:cNvSpPr/>
          <p:nvPr/>
        </p:nvSpPr>
        <p:spPr>
          <a:xfrm>
            <a:off x="457200" y="731520"/>
            <a:ext cx="2560320" cy="548640"/>
          </a:xfrm>
          <a:prstGeom prst="rect">
            <a:avLst/>
          </a:prstGeom>
          <a:noFill/>
          <a:ln/>
        </p:spPr>
        <p:txBody>
          <a:bodyPr wrap="square" lIns="0" tIns="0" rIns="0" bIns="0" rtlCol="0" anchor="ctr"/>
          <a:lstStyle/>
          <a:p>
            <a:pPr indent="0" marL="0">
              <a:buNone/>
            </a:pPr>
            <a:r>
              <a:rPr lang="en-US" sz="2800" b="1" dirty="0">
                <a:solidFill>
                  <a:srgbClr val="FDF8F4"/>
                </a:solidFill>
                <a:latin typeface="Georgia" pitchFamily="34" charset="0"/>
                <a:ea typeface="Georgia" pitchFamily="34" charset="-122"/>
                <a:cs typeface="Georgia" pitchFamily="34" charset="-120"/>
              </a:rPr>
              <a:t>Contenido</a:t>
            </a:r>
            <a:endParaRPr lang="en-US" sz="2800" dirty="0"/>
          </a:p>
        </p:txBody>
      </p:sp>
      <p:sp>
        <p:nvSpPr>
          <p:cNvPr id="4" name="Text 2"/>
          <p:cNvSpPr/>
          <p:nvPr/>
        </p:nvSpPr>
        <p:spPr>
          <a:xfrm>
            <a:off x="457200" y="1188720"/>
            <a:ext cx="2560320" cy="365760"/>
          </a:xfrm>
          <a:prstGeom prst="rect">
            <a:avLst/>
          </a:prstGeom>
          <a:noFill/>
          <a:ln/>
        </p:spPr>
        <p:txBody>
          <a:bodyPr wrap="square" lIns="0" tIns="0" rIns="0" bIns="0" rtlCol="0" anchor="ctr"/>
          <a:lstStyle/>
          <a:p>
            <a:pPr indent="0" marL="0">
              <a:buNone/>
            </a:pPr>
            <a:r>
              <a:rPr lang="en-US" sz="1400" i="1" dirty="0">
                <a:solidFill>
                  <a:srgbClr val="E8D5A8"/>
                </a:solidFill>
                <a:latin typeface="Calibri Light" pitchFamily="34" charset="0"/>
                <a:ea typeface="Calibri Light" pitchFamily="34" charset="-122"/>
                <a:cs typeface="Calibri Light" pitchFamily="34" charset="-120"/>
              </a:rPr>
              <a:t>Contents</a:t>
            </a:r>
            <a:endParaRPr lang="en-US" sz="1400" dirty="0"/>
          </a:p>
        </p:txBody>
      </p:sp>
      <p:sp>
        <p:nvSpPr>
          <p:cNvPr id="5" name="Text 3"/>
          <p:cNvSpPr/>
          <p:nvPr/>
        </p:nvSpPr>
        <p:spPr>
          <a:xfrm>
            <a:off x="3657600" y="548640"/>
            <a:ext cx="548640" cy="365760"/>
          </a:xfrm>
          <a:prstGeom prst="rect">
            <a:avLst/>
          </a:prstGeom>
          <a:noFill/>
          <a:ln/>
        </p:spPr>
        <p:txBody>
          <a:bodyPr wrap="square" lIns="0" tIns="0" rIns="0" bIns="0" rtlCol="0" anchor="ctr"/>
          <a:lstStyle/>
          <a:p>
            <a:pPr indent="0" marL="0">
              <a:buNone/>
            </a:pPr>
            <a:r>
              <a:rPr lang="en-US" sz="1400" b="1" dirty="0">
                <a:solidFill>
                  <a:srgbClr val="C9A96E"/>
                </a:solidFill>
                <a:latin typeface="Georgia" pitchFamily="34" charset="0"/>
                <a:ea typeface="Georgia" pitchFamily="34" charset="-122"/>
                <a:cs typeface="Georgia" pitchFamily="34" charset="-120"/>
              </a:rPr>
              <a:t>01</a:t>
            </a:r>
            <a:endParaRPr lang="en-US" sz="1400" dirty="0"/>
          </a:p>
        </p:txBody>
      </p:sp>
      <p:sp>
        <p:nvSpPr>
          <p:cNvPr id="6" name="Text 4"/>
          <p:cNvSpPr/>
          <p:nvPr/>
        </p:nvSpPr>
        <p:spPr>
          <a:xfrm>
            <a:off x="4297680" y="548640"/>
            <a:ext cx="2743200" cy="228600"/>
          </a:xfrm>
          <a:prstGeom prst="rect">
            <a:avLst/>
          </a:prstGeom>
          <a:noFill/>
          <a:ln/>
        </p:spPr>
        <p:txBody>
          <a:bodyPr wrap="square" lIns="0" tIns="0" rIns="0" bIns="0" rtlCol="0" anchor="ctr"/>
          <a:lstStyle/>
          <a:p>
            <a:pPr indent="0" marL="0">
              <a:buNone/>
            </a:pPr>
            <a:r>
              <a:rPr lang="en-US" sz="1300" b="1" dirty="0">
                <a:solidFill>
                  <a:srgbClr val="7D4E57"/>
                </a:solidFill>
                <a:latin typeface="Calibri" pitchFamily="34" charset="0"/>
                <a:ea typeface="Calibri" pitchFamily="34" charset="-122"/>
                <a:cs typeface="Calibri" pitchFamily="34" charset="-120"/>
              </a:rPr>
              <a:t>Nuestra Esencia</a:t>
            </a:r>
            <a:endParaRPr lang="en-US" sz="1300" dirty="0"/>
          </a:p>
        </p:txBody>
      </p:sp>
      <p:sp>
        <p:nvSpPr>
          <p:cNvPr id="7" name="Text 5"/>
          <p:cNvSpPr/>
          <p:nvPr/>
        </p:nvSpPr>
        <p:spPr>
          <a:xfrm>
            <a:off x="4297680" y="731520"/>
            <a:ext cx="2743200" cy="182880"/>
          </a:xfrm>
          <a:prstGeom prst="rect">
            <a:avLst/>
          </a:prstGeom>
          <a:noFill/>
          <a:ln/>
        </p:spPr>
        <p:txBody>
          <a:bodyPr wrap="square" lIns="0" tIns="0" rIns="0" bIns="0" rtlCol="0" anchor="ctr"/>
          <a:lstStyle/>
          <a:p>
            <a:pPr indent="0" marL="0">
              <a:buNone/>
            </a:pPr>
            <a:r>
              <a:rPr lang="en-US" sz="1000" i="1" dirty="0">
                <a:solidFill>
                  <a:srgbClr val="7A6B6B"/>
                </a:solidFill>
                <a:latin typeface="Calibri Light" pitchFamily="34" charset="0"/>
                <a:ea typeface="Calibri Light" pitchFamily="34" charset="-122"/>
                <a:cs typeface="Calibri Light" pitchFamily="34" charset="-120"/>
              </a:rPr>
              <a:t>Our Essence</a:t>
            </a:r>
            <a:endParaRPr lang="en-US" sz="1000" dirty="0"/>
          </a:p>
        </p:txBody>
      </p:sp>
      <p:sp>
        <p:nvSpPr>
          <p:cNvPr id="8" name="Text 6"/>
          <p:cNvSpPr/>
          <p:nvPr/>
        </p:nvSpPr>
        <p:spPr>
          <a:xfrm>
            <a:off x="3657600" y="960120"/>
            <a:ext cx="548640" cy="365760"/>
          </a:xfrm>
          <a:prstGeom prst="rect">
            <a:avLst/>
          </a:prstGeom>
          <a:noFill/>
          <a:ln/>
        </p:spPr>
        <p:txBody>
          <a:bodyPr wrap="square" lIns="0" tIns="0" rIns="0" bIns="0" rtlCol="0" anchor="ctr"/>
          <a:lstStyle/>
          <a:p>
            <a:pPr indent="0" marL="0">
              <a:buNone/>
            </a:pPr>
            <a:r>
              <a:rPr lang="en-US" sz="1400" b="1" dirty="0">
                <a:solidFill>
                  <a:srgbClr val="C9A96E"/>
                </a:solidFill>
                <a:latin typeface="Georgia" pitchFamily="34" charset="0"/>
                <a:ea typeface="Georgia" pitchFamily="34" charset="-122"/>
                <a:cs typeface="Georgia" pitchFamily="34" charset="-120"/>
              </a:rPr>
              <a:t>02</a:t>
            </a:r>
            <a:endParaRPr lang="en-US" sz="1400" dirty="0"/>
          </a:p>
        </p:txBody>
      </p:sp>
      <p:sp>
        <p:nvSpPr>
          <p:cNvPr id="9" name="Text 7"/>
          <p:cNvSpPr/>
          <p:nvPr/>
        </p:nvSpPr>
        <p:spPr>
          <a:xfrm>
            <a:off x="4297680" y="960120"/>
            <a:ext cx="2743200" cy="228600"/>
          </a:xfrm>
          <a:prstGeom prst="rect">
            <a:avLst/>
          </a:prstGeom>
          <a:noFill/>
          <a:ln/>
        </p:spPr>
        <p:txBody>
          <a:bodyPr wrap="square" lIns="0" tIns="0" rIns="0" bIns="0" rtlCol="0" anchor="ctr"/>
          <a:lstStyle/>
          <a:p>
            <a:pPr indent="0" marL="0">
              <a:buNone/>
            </a:pPr>
            <a:r>
              <a:rPr lang="en-US" sz="1300" b="1" dirty="0">
                <a:solidFill>
                  <a:srgbClr val="7D4E57"/>
                </a:solidFill>
                <a:latin typeface="Calibri" pitchFamily="34" charset="0"/>
                <a:ea typeface="Calibri" pitchFamily="34" charset="-122"/>
                <a:cs typeface="Calibri" pitchFamily="34" charset="-120"/>
              </a:rPr>
              <a:t>Nombre y Significado</a:t>
            </a:r>
            <a:endParaRPr lang="en-US" sz="1300" dirty="0"/>
          </a:p>
        </p:txBody>
      </p:sp>
      <p:sp>
        <p:nvSpPr>
          <p:cNvPr id="10" name="Text 8"/>
          <p:cNvSpPr/>
          <p:nvPr/>
        </p:nvSpPr>
        <p:spPr>
          <a:xfrm>
            <a:off x="4297680" y="1143000"/>
            <a:ext cx="2743200" cy="182880"/>
          </a:xfrm>
          <a:prstGeom prst="rect">
            <a:avLst/>
          </a:prstGeom>
          <a:noFill/>
          <a:ln/>
        </p:spPr>
        <p:txBody>
          <a:bodyPr wrap="square" lIns="0" tIns="0" rIns="0" bIns="0" rtlCol="0" anchor="ctr"/>
          <a:lstStyle/>
          <a:p>
            <a:pPr indent="0" marL="0">
              <a:buNone/>
            </a:pPr>
            <a:r>
              <a:rPr lang="en-US" sz="1000" i="1" dirty="0">
                <a:solidFill>
                  <a:srgbClr val="7A6B6B"/>
                </a:solidFill>
                <a:latin typeface="Calibri Light" pitchFamily="34" charset="0"/>
                <a:ea typeface="Calibri Light" pitchFamily="34" charset="-122"/>
                <a:cs typeface="Calibri Light" pitchFamily="34" charset="-120"/>
              </a:rPr>
              <a:t>Name &amp; Meaning</a:t>
            </a:r>
            <a:endParaRPr lang="en-US" sz="1000" dirty="0"/>
          </a:p>
        </p:txBody>
      </p:sp>
      <p:sp>
        <p:nvSpPr>
          <p:cNvPr id="11" name="Text 9"/>
          <p:cNvSpPr/>
          <p:nvPr/>
        </p:nvSpPr>
        <p:spPr>
          <a:xfrm>
            <a:off x="3657600" y="1371600"/>
            <a:ext cx="548640" cy="365760"/>
          </a:xfrm>
          <a:prstGeom prst="rect">
            <a:avLst/>
          </a:prstGeom>
          <a:noFill/>
          <a:ln/>
        </p:spPr>
        <p:txBody>
          <a:bodyPr wrap="square" lIns="0" tIns="0" rIns="0" bIns="0" rtlCol="0" anchor="ctr"/>
          <a:lstStyle/>
          <a:p>
            <a:pPr indent="0" marL="0">
              <a:buNone/>
            </a:pPr>
            <a:r>
              <a:rPr lang="en-US" sz="1400" b="1" dirty="0">
                <a:solidFill>
                  <a:srgbClr val="C9A96E"/>
                </a:solidFill>
                <a:latin typeface="Georgia" pitchFamily="34" charset="0"/>
                <a:ea typeface="Georgia" pitchFamily="34" charset="-122"/>
                <a:cs typeface="Georgia" pitchFamily="34" charset="-120"/>
              </a:rPr>
              <a:t>03</a:t>
            </a:r>
            <a:endParaRPr lang="en-US" sz="1400" dirty="0"/>
          </a:p>
        </p:txBody>
      </p:sp>
      <p:sp>
        <p:nvSpPr>
          <p:cNvPr id="12" name="Text 10"/>
          <p:cNvSpPr/>
          <p:nvPr/>
        </p:nvSpPr>
        <p:spPr>
          <a:xfrm>
            <a:off x="4297680" y="1371600"/>
            <a:ext cx="2743200" cy="228600"/>
          </a:xfrm>
          <a:prstGeom prst="rect">
            <a:avLst/>
          </a:prstGeom>
          <a:noFill/>
          <a:ln/>
        </p:spPr>
        <p:txBody>
          <a:bodyPr wrap="square" lIns="0" tIns="0" rIns="0" bIns="0" rtlCol="0" anchor="ctr"/>
          <a:lstStyle/>
          <a:p>
            <a:pPr indent="0" marL="0">
              <a:buNone/>
            </a:pPr>
            <a:r>
              <a:rPr lang="en-US" sz="1300" b="1" dirty="0">
                <a:solidFill>
                  <a:srgbClr val="7D4E57"/>
                </a:solidFill>
                <a:latin typeface="Calibri" pitchFamily="34" charset="0"/>
                <a:ea typeface="Calibri" pitchFamily="34" charset="-122"/>
                <a:cs typeface="Calibri" pitchFamily="34" charset="-120"/>
              </a:rPr>
              <a:t>Taglines</a:t>
            </a:r>
            <a:endParaRPr lang="en-US" sz="1300" dirty="0"/>
          </a:p>
        </p:txBody>
      </p:sp>
      <p:sp>
        <p:nvSpPr>
          <p:cNvPr id="13" name="Text 11"/>
          <p:cNvSpPr/>
          <p:nvPr/>
        </p:nvSpPr>
        <p:spPr>
          <a:xfrm>
            <a:off x="4297680" y="1554480"/>
            <a:ext cx="2743200" cy="182880"/>
          </a:xfrm>
          <a:prstGeom prst="rect">
            <a:avLst/>
          </a:prstGeom>
          <a:noFill/>
          <a:ln/>
        </p:spPr>
        <p:txBody>
          <a:bodyPr wrap="square" lIns="0" tIns="0" rIns="0" bIns="0" rtlCol="0" anchor="ctr"/>
          <a:lstStyle/>
          <a:p>
            <a:pPr indent="0" marL="0">
              <a:buNone/>
            </a:pPr>
            <a:r>
              <a:rPr lang="en-US" sz="1000" i="1" dirty="0">
                <a:solidFill>
                  <a:srgbClr val="7A6B6B"/>
                </a:solidFill>
                <a:latin typeface="Calibri Light" pitchFamily="34" charset="0"/>
                <a:ea typeface="Calibri Light" pitchFamily="34" charset="-122"/>
                <a:cs typeface="Calibri Light" pitchFamily="34" charset="-120"/>
              </a:rPr>
              <a:t>Taglines</a:t>
            </a:r>
            <a:endParaRPr lang="en-US" sz="1000" dirty="0"/>
          </a:p>
        </p:txBody>
      </p:sp>
      <p:sp>
        <p:nvSpPr>
          <p:cNvPr id="14" name="Text 12"/>
          <p:cNvSpPr/>
          <p:nvPr/>
        </p:nvSpPr>
        <p:spPr>
          <a:xfrm>
            <a:off x="3657600" y="1783080"/>
            <a:ext cx="548640" cy="365760"/>
          </a:xfrm>
          <a:prstGeom prst="rect">
            <a:avLst/>
          </a:prstGeom>
          <a:noFill/>
          <a:ln/>
        </p:spPr>
        <p:txBody>
          <a:bodyPr wrap="square" lIns="0" tIns="0" rIns="0" bIns="0" rtlCol="0" anchor="ctr"/>
          <a:lstStyle/>
          <a:p>
            <a:pPr indent="0" marL="0">
              <a:buNone/>
            </a:pPr>
            <a:r>
              <a:rPr lang="en-US" sz="1400" b="1" dirty="0">
                <a:solidFill>
                  <a:srgbClr val="C9A96E"/>
                </a:solidFill>
                <a:latin typeface="Georgia" pitchFamily="34" charset="0"/>
                <a:ea typeface="Georgia" pitchFamily="34" charset="-122"/>
                <a:cs typeface="Georgia" pitchFamily="34" charset="-120"/>
              </a:rPr>
              <a:t>04</a:t>
            </a:r>
            <a:endParaRPr lang="en-US" sz="1400" dirty="0"/>
          </a:p>
        </p:txBody>
      </p:sp>
      <p:sp>
        <p:nvSpPr>
          <p:cNvPr id="15" name="Text 13"/>
          <p:cNvSpPr/>
          <p:nvPr/>
        </p:nvSpPr>
        <p:spPr>
          <a:xfrm>
            <a:off x="4297680" y="1783080"/>
            <a:ext cx="2743200" cy="228600"/>
          </a:xfrm>
          <a:prstGeom prst="rect">
            <a:avLst/>
          </a:prstGeom>
          <a:noFill/>
          <a:ln/>
        </p:spPr>
        <p:txBody>
          <a:bodyPr wrap="square" lIns="0" tIns="0" rIns="0" bIns="0" rtlCol="0" anchor="ctr"/>
          <a:lstStyle/>
          <a:p>
            <a:pPr indent="0" marL="0">
              <a:buNone/>
            </a:pPr>
            <a:r>
              <a:rPr lang="en-US" sz="1300" b="1" dirty="0">
                <a:solidFill>
                  <a:srgbClr val="7D4E57"/>
                </a:solidFill>
                <a:latin typeface="Calibri" pitchFamily="34" charset="0"/>
                <a:ea typeface="Calibri" pitchFamily="34" charset="-122"/>
                <a:cs typeface="Calibri" pitchFamily="34" charset="-120"/>
              </a:rPr>
              <a:t>Manifiesto de la Fundadora</a:t>
            </a:r>
            <a:endParaRPr lang="en-US" sz="1300" dirty="0"/>
          </a:p>
        </p:txBody>
      </p:sp>
      <p:sp>
        <p:nvSpPr>
          <p:cNvPr id="16" name="Text 14"/>
          <p:cNvSpPr/>
          <p:nvPr/>
        </p:nvSpPr>
        <p:spPr>
          <a:xfrm>
            <a:off x="4297680" y="1965960"/>
            <a:ext cx="2743200" cy="182880"/>
          </a:xfrm>
          <a:prstGeom prst="rect">
            <a:avLst/>
          </a:prstGeom>
          <a:noFill/>
          <a:ln/>
        </p:spPr>
        <p:txBody>
          <a:bodyPr wrap="square" lIns="0" tIns="0" rIns="0" bIns="0" rtlCol="0" anchor="ctr"/>
          <a:lstStyle/>
          <a:p>
            <a:pPr indent="0" marL="0">
              <a:buNone/>
            </a:pPr>
            <a:r>
              <a:rPr lang="en-US" sz="1000" i="1" dirty="0">
                <a:solidFill>
                  <a:srgbClr val="7A6B6B"/>
                </a:solidFill>
                <a:latin typeface="Calibri Light" pitchFamily="34" charset="0"/>
                <a:ea typeface="Calibri Light" pitchFamily="34" charset="-122"/>
                <a:cs typeface="Calibri Light" pitchFamily="34" charset="-120"/>
              </a:rPr>
              <a:t>Founder's Manifesto</a:t>
            </a:r>
            <a:endParaRPr lang="en-US" sz="1000" dirty="0"/>
          </a:p>
        </p:txBody>
      </p:sp>
      <p:sp>
        <p:nvSpPr>
          <p:cNvPr id="17" name="Text 15"/>
          <p:cNvSpPr/>
          <p:nvPr/>
        </p:nvSpPr>
        <p:spPr>
          <a:xfrm>
            <a:off x="3657600" y="2194560"/>
            <a:ext cx="548640" cy="365760"/>
          </a:xfrm>
          <a:prstGeom prst="rect">
            <a:avLst/>
          </a:prstGeom>
          <a:noFill/>
          <a:ln/>
        </p:spPr>
        <p:txBody>
          <a:bodyPr wrap="square" lIns="0" tIns="0" rIns="0" bIns="0" rtlCol="0" anchor="ctr"/>
          <a:lstStyle/>
          <a:p>
            <a:pPr indent="0" marL="0">
              <a:buNone/>
            </a:pPr>
            <a:r>
              <a:rPr lang="en-US" sz="1400" b="1" dirty="0">
                <a:solidFill>
                  <a:srgbClr val="C9A96E"/>
                </a:solidFill>
                <a:latin typeface="Georgia" pitchFamily="34" charset="0"/>
                <a:ea typeface="Georgia" pitchFamily="34" charset="-122"/>
                <a:cs typeface="Georgia" pitchFamily="34" charset="-120"/>
              </a:rPr>
              <a:t>05</a:t>
            </a:r>
            <a:endParaRPr lang="en-US" sz="1400" dirty="0"/>
          </a:p>
        </p:txBody>
      </p:sp>
      <p:sp>
        <p:nvSpPr>
          <p:cNvPr id="18" name="Text 16"/>
          <p:cNvSpPr/>
          <p:nvPr/>
        </p:nvSpPr>
        <p:spPr>
          <a:xfrm>
            <a:off x="4297680" y="2194560"/>
            <a:ext cx="2743200" cy="228600"/>
          </a:xfrm>
          <a:prstGeom prst="rect">
            <a:avLst/>
          </a:prstGeom>
          <a:noFill/>
          <a:ln/>
        </p:spPr>
        <p:txBody>
          <a:bodyPr wrap="square" lIns="0" tIns="0" rIns="0" bIns="0" rtlCol="0" anchor="ctr"/>
          <a:lstStyle/>
          <a:p>
            <a:pPr indent="0" marL="0">
              <a:buNone/>
            </a:pPr>
            <a:r>
              <a:rPr lang="en-US" sz="1300" b="1" dirty="0">
                <a:solidFill>
                  <a:srgbClr val="7D4E57"/>
                </a:solidFill>
                <a:latin typeface="Calibri" pitchFamily="34" charset="0"/>
                <a:ea typeface="Calibri" pitchFamily="34" charset="-122"/>
                <a:cs typeface="Calibri" pitchFamily="34" charset="-120"/>
              </a:rPr>
              <a:t>Paleta de Colores</a:t>
            </a:r>
            <a:endParaRPr lang="en-US" sz="1300" dirty="0"/>
          </a:p>
        </p:txBody>
      </p:sp>
      <p:sp>
        <p:nvSpPr>
          <p:cNvPr id="19" name="Text 17"/>
          <p:cNvSpPr/>
          <p:nvPr/>
        </p:nvSpPr>
        <p:spPr>
          <a:xfrm>
            <a:off x="4297680" y="2377440"/>
            <a:ext cx="2743200" cy="182880"/>
          </a:xfrm>
          <a:prstGeom prst="rect">
            <a:avLst/>
          </a:prstGeom>
          <a:noFill/>
          <a:ln/>
        </p:spPr>
        <p:txBody>
          <a:bodyPr wrap="square" lIns="0" tIns="0" rIns="0" bIns="0" rtlCol="0" anchor="ctr"/>
          <a:lstStyle/>
          <a:p>
            <a:pPr indent="0" marL="0">
              <a:buNone/>
            </a:pPr>
            <a:r>
              <a:rPr lang="en-US" sz="1000" i="1" dirty="0">
                <a:solidFill>
                  <a:srgbClr val="7A6B6B"/>
                </a:solidFill>
                <a:latin typeface="Calibri Light" pitchFamily="34" charset="0"/>
                <a:ea typeface="Calibri Light" pitchFamily="34" charset="-122"/>
                <a:cs typeface="Calibri Light" pitchFamily="34" charset="-120"/>
              </a:rPr>
              <a:t>Color Palette</a:t>
            </a:r>
            <a:endParaRPr lang="en-US" sz="1000" dirty="0"/>
          </a:p>
        </p:txBody>
      </p:sp>
      <p:sp>
        <p:nvSpPr>
          <p:cNvPr id="20" name="Text 18"/>
          <p:cNvSpPr/>
          <p:nvPr/>
        </p:nvSpPr>
        <p:spPr>
          <a:xfrm>
            <a:off x="3657600" y="2606040"/>
            <a:ext cx="548640" cy="365760"/>
          </a:xfrm>
          <a:prstGeom prst="rect">
            <a:avLst/>
          </a:prstGeom>
          <a:noFill/>
          <a:ln/>
        </p:spPr>
        <p:txBody>
          <a:bodyPr wrap="square" lIns="0" tIns="0" rIns="0" bIns="0" rtlCol="0" anchor="ctr"/>
          <a:lstStyle/>
          <a:p>
            <a:pPr indent="0" marL="0">
              <a:buNone/>
            </a:pPr>
            <a:r>
              <a:rPr lang="en-US" sz="1400" b="1" dirty="0">
                <a:solidFill>
                  <a:srgbClr val="C9A96E"/>
                </a:solidFill>
                <a:latin typeface="Georgia" pitchFamily="34" charset="0"/>
                <a:ea typeface="Georgia" pitchFamily="34" charset="-122"/>
                <a:cs typeface="Georgia" pitchFamily="34" charset="-120"/>
              </a:rPr>
              <a:t>06</a:t>
            </a:r>
            <a:endParaRPr lang="en-US" sz="1400" dirty="0"/>
          </a:p>
        </p:txBody>
      </p:sp>
      <p:sp>
        <p:nvSpPr>
          <p:cNvPr id="21" name="Text 19"/>
          <p:cNvSpPr/>
          <p:nvPr/>
        </p:nvSpPr>
        <p:spPr>
          <a:xfrm>
            <a:off x="4297680" y="2606040"/>
            <a:ext cx="2743200" cy="228600"/>
          </a:xfrm>
          <a:prstGeom prst="rect">
            <a:avLst/>
          </a:prstGeom>
          <a:noFill/>
          <a:ln/>
        </p:spPr>
        <p:txBody>
          <a:bodyPr wrap="square" lIns="0" tIns="0" rIns="0" bIns="0" rtlCol="0" anchor="ctr"/>
          <a:lstStyle/>
          <a:p>
            <a:pPr indent="0" marL="0">
              <a:buNone/>
            </a:pPr>
            <a:r>
              <a:rPr lang="en-US" sz="1300" b="1" dirty="0">
                <a:solidFill>
                  <a:srgbClr val="7D4E57"/>
                </a:solidFill>
                <a:latin typeface="Calibri" pitchFamily="34" charset="0"/>
                <a:ea typeface="Calibri" pitchFamily="34" charset="-122"/>
                <a:cs typeface="Calibri" pitchFamily="34" charset="-120"/>
              </a:rPr>
              <a:t>Tipografía</a:t>
            </a:r>
            <a:endParaRPr lang="en-US" sz="1300" dirty="0"/>
          </a:p>
        </p:txBody>
      </p:sp>
      <p:sp>
        <p:nvSpPr>
          <p:cNvPr id="22" name="Text 20"/>
          <p:cNvSpPr/>
          <p:nvPr/>
        </p:nvSpPr>
        <p:spPr>
          <a:xfrm>
            <a:off x="4297680" y="2788920"/>
            <a:ext cx="2743200" cy="182880"/>
          </a:xfrm>
          <a:prstGeom prst="rect">
            <a:avLst/>
          </a:prstGeom>
          <a:noFill/>
          <a:ln/>
        </p:spPr>
        <p:txBody>
          <a:bodyPr wrap="square" lIns="0" tIns="0" rIns="0" bIns="0" rtlCol="0" anchor="ctr"/>
          <a:lstStyle/>
          <a:p>
            <a:pPr indent="0" marL="0">
              <a:buNone/>
            </a:pPr>
            <a:r>
              <a:rPr lang="en-US" sz="1000" i="1" dirty="0">
                <a:solidFill>
                  <a:srgbClr val="7A6B6B"/>
                </a:solidFill>
                <a:latin typeface="Calibri Light" pitchFamily="34" charset="0"/>
                <a:ea typeface="Calibri Light" pitchFamily="34" charset="-122"/>
                <a:cs typeface="Calibri Light" pitchFamily="34" charset="-120"/>
              </a:rPr>
              <a:t>Typography</a:t>
            </a:r>
            <a:endParaRPr lang="en-US" sz="1000" dirty="0"/>
          </a:p>
        </p:txBody>
      </p:sp>
      <p:sp>
        <p:nvSpPr>
          <p:cNvPr id="23" name="Text 21"/>
          <p:cNvSpPr/>
          <p:nvPr/>
        </p:nvSpPr>
        <p:spPr>
          <a:xfrm>
            <a:off x="3657600" y="3017520"/>
            <a:ext cx="548640" cy="365760"/>
          </a:xfrm>
          <a:prstGeom prst="rect">
            <a:avLst/>
          </a:prstGeom>
          <a:noFill/>
          <a:ln/>
        </p:spPr>
        <p:txBody>
          <a:bodyPr wrap="square" lIns="0" tIns="0" rIns="0" bIns="0" rtlCol="0" anchor="ctr"/>
          <a:lstStyle/>
          <a:p>
            <a:pPr indent="0" marL="0">
              <a:buNone/>
            </a:pPr>
            <a:r>
              <a:rPr lang="en-US" sz="1400" b="1" dirty="0">
                <a:solidFill>
                  <a:srgbClr val="C9A96E"/>
                </a:solidFill>
                <a:latin typeface="Georgia" pitchFamily="34" charset="0"/>
                <a:ea typeface="Georgia" pitchFamily="34" charset="-122"/>
                <a:cs typeface="Georgia" pitchFamily="34" charset="-120"/>
              </a:rPr>
              <a:t>07</a:t>
            </a:r>
            <a:endParaRPr lang="en-US" sz="1400" dirty="0"/>
          </a:p>
        </p:txBody>
      </p:sp>
      <p:sp>
        <p:nvSpPr>
          <p:cNvPr id="24" name="Text 22"/>
          <p:cNvSpPr/>
          <p:nvPr/>
        </p:nvSpPr>
        <p:spPr>
          <a:xfrm>
            <a:off x="4297680" y="3017520"/>
            <a:ext cx="2743200" cy="228600"/>
          </a:xfrm>
          <a:prstGeom prst="rect">
            <a:avLst/>
          </a:prstGeom>
          <a:noFill/>
          <a:ln/>
        </p:spPr>
        <p:txBody>
          <a:bodyPr wrap="square" lIns="0" tIns="0" rIns="0" bIns="0" rtlCol="0" anchor="ctr"/>
          <a:lstStyle/>
          <a:p>
            <a:pPr indent="0" marL="0">
              <a:buNone/>
            </a:pPr>
            <a:r>
              <a:rPr lang="en-US" sz="1300" b="1" dirty="0">
                <a:solidFill>
                  <a:srgbClr val="7D4E57"/>
                </a:solidFill>
                <a:latin typeface="Calibri" pitchFamily="34" charset="0"/>
                <a:ea typeface="Calibri" pitchFamily="34" charset="-122"/>
                <a:cs typeface="Calibri" pitchFamily="34" charset="-120"/>
              </a:rPr>
              <a:t>Tono de Voz</a:t>
            </a:r>
            <a:endParaRPr lang="en-US" sz="1300" dirty="0"/>
          </a:p>
        </p:txBody>
      </p:sp>
      <p:sp>
        <p:nvSpPr>
          <p:cNvPr id="25" name="Text 23"/>
          <p:cNvSpPr/>
          <p:nvPr/>
        </p:nvSpPr>
        <p:spPr>
          <a:xfrm>
            <a:off x="4297680" y="3200400"/>
            <a:ext cx="2743200" cy="182880"/>
          </a:xfrm>
          <a:prstGeom prst="rect">
            <a:avLst/>
          </a:prstGeom>
          <a:noFill/>
          <a:ln/>
        </p:spPr>
        <p:txBody>
          <a:bodyPr wrap="square" lIns="0" tIns="0" rIns="0" bIns="0" rtlCol="0" anchor="ctr"/>
          <a:lstStyle/>
          <a:p>
            <a:pPr indent="0" marL="0">
              <a:buNone/>
            </a:pPr>
            <a:r>
              <a:rPr lang="en-US" sz="1000" i="1" dirty="0">
                <a:solidFill>
                  <a:srgbClr val="7A6B6B"/>
                </a:solidFill>
                <a:latin typeface="Calibri Light" pitchFamily="34" charset="0"/>
                <a:ea typeface="Calibri Light" pitchFamily="34" charset="-122"/>
                <a:cs typeface="Calibri Light" pitchFamily="34" charset="-120"/>
              </a:rPr>
              <a:t>Tone of Voice</a:t>
            </a:r>
            <a:endParaRPr lang="en-US" sz="1000" dirty="0"/>
          </a:p>
        </p:txBody>
      </p:sp>
      <p:sp>
        <p:nvSpPr>
          <p:cNvPr id="26" name="Text 24"/>
          <p:cNvSpPr/>
          <p:nvPr/>
        </p:nvSpPr>
        <p:spPr>
          <a:xfrm>
            <a:off x="3657600" y="3429000"/>
            <a:ext cx="548640" cy="365760"/>
          </a:xfrm>
          <a:prstGeom prst="rect">
            <a:avLst/>
          </a:prstGeom>
          <a:noFill/>
          <a:ln/>
        </p:spPr>
        <p:txBody>
          <a:bodyPr wrap="square" lIns="0" tIns="0" rIns="0" bIns="0" rtlCol="0" anchor="ctr"/>
          <a:lstStyle/>
          <a:p>
            <a:pPr indent="0" marL="0">
              <a:buNone/>
            </a:pPr>
            <a:r>
              <a:rPr lang="en-US" sz="1400" b="1" dirty="0">
                <a:solidFill>
                  <a:srgbClr val="C9A96E"/>
                </a:solidFill>
                <a:latin typeface="Georgia" pitchFamily="34" charset="0"/>
                <a:ea typeface="Georgia" pitchFamily="34" charset="-122"/>
                <a:cs typeface="Georgia" pitchFamily="34" charset="-120"/>
              </a:rPr>
              <a:t>08</a:t>
            </a:r>
            <a:endParaRPr lang="en-US" sz="1400" dirty="0"/>
          </a:p>
        </p:txBody>
      </p:sp>
      <p:sp>
        <p:nvSpPr>
          <p:cNvPr id="27" name="Text 25"/>
          <p:cNvSpPr/>
          <p:nvPr/>
        </p:nvSpPr>
        <p:spPr>
          <a:xfrm>
            <a:off x="4297680" y="3429000"/>
            <a:ext cx="2743200" cy="228600"/>
          </a:xfrm>
          <a:prstGeom prst="rect">
            <a:avLst/>
          </a:prstGeom>
          <a:noFill/>
          <a:ln/>
        </p:spPr>
        <p:txBody>
          <a:bodyPr wrap="square" lIns="0" tIns="0" rIns="0" bIns="0" rtlCol="0" anchor="ctr"/>
          <a:lstStyle/>
          <a:p>
            <a:pPr indent="0" marL="0">
              <a:buNone/>
            </a:pPr>
            <a:r>
              <a:rPr lang="en-US" sz="1300" b="1" dirty="0">
                <a:solidFill>
                  <a:srgbClr val="7D4E57"/>
                </a:solidFill>
                <a:latin typeface="Calibri" pitchFamily="34" charset="0"/>
                <a:ea typeface="Calibri" pitchFamily="34" charset="-122"/>
                <a:cs typeface="Calibri" pitchFamily="34" charset="-120"/>
              </a:rPr>
              <a:t>Valores de Marca</a:t>
            </a:r>
            <a:endParaRPr lang="en-US" sz="1300" dirty="0"/>
          </a:p>
        </p:txBody>
      </p:sp>
      <p:sp>
        <p:nvSpPr>
          <p:cNvPr id="28" name="Text 26"/>
          <p:cNvSpPr/>
          <p:nvPr/>
        </p:nvSpPr>
        <p:spPr>
          <a:xfrm>
            <a:off x="4297680" y="3611880"/>
            <a:ext cx="2743200" cy="182880"/>
          </a:xfrm>
          <a:prstGeom prst="rect">
            <a:avLst/>
          </a:prstGeom>
          <a:noFill/>
          <a:ln/>
        </p:spPr>
        <p:txBody>
          <a:bodyPr wrap="square" lIns="0" tIns="0" rIns="0" bIns="0" rtlCol="0" anchor="ctr"/>
          <a:lstStyle/>
          <a:p>
            <a:pPr indent="0" marL="0">
              <a:buNone/>
            </a:pPr>
            <a:r>
              <a:rPr lang="en-US" sz="1000" i="1" dirty="0">
                <a:solidFill>
                  <a:srgbClr val="7A6B6B"/>
                </a:solidFill>
                <a:latin typeface="Calibri Light" pitchFamily="34" charset="0"/>
                <a:ea typeface="Calibri Light" pitchFamily="34" charset="-122"/>
                <a:cs typeface="Calibri Light" pitchFamily="34" charset="-120"/>
              </a:rPr>
              <a:t>Brand Values</a:t>
            </a:r>
            <a:endParaRPr lang="en-US" sz="1000" dirty="0"/>
          </a:p>
        </p:txBody>
      </p:sp>
      <p:sp>
        <p:nvSpPr>
          <p:cNvPr id="29" name="Text 27"/>
          <p:cNvSpPr/>
          <p:nvPr/>
        </p:nvSpPr>
        <p:spPr>
          <a:xfrm>
            <a:off x="3657600" y="3840480"/>
            <a:ext cx="548640" cy="365760"/>
          </a:xfrm>
          <a:prstGeom prst="rect">
            <a:avLst/>
          </a:prstGeom>
          <a:noFill/>
          <a:ln/>
        </p:spPr>
        <p:txBody>
          <a:bodyPr wrap="square" lIns="0" tIns="0" rIns="0" bIns="0" rtlCol="0" anchor="ctr"/>
          <a:lstStyle/>
          <a:p>
            <a:pPr indent="0" marL="0">
              <a:buNone/>
            </a:pPr>
            <a:r>
              <a:rPr lang="en-US" sz="1400" b="1" dirty="0">
                <a:solidFill>
                  <a:srgbClr val="C9A96E"/>
                </a:solidFill>
                <a:latin typeface="Georgia" pitchFamily="34" charset="0"/>
                <a:ea typeface="Georgia" pitchFamily="34" charset="-122"/>
                <a:cs typeface="Georgia" pitchFamily="34" charset="-120"/>
              </a:rPr>
              <a:t>09</a:t>
            </a:r>
            <a:endParaRPr lang="en-US" sz="1400" dirty="0"/>
          </a:p>
        </p:txBody>
      </p:sp>
      <p:sp>
        <p:nvSpPr>
          <p:cNvPr id="30" name="Text 28"/>
          <p:cNvSpPr/>
          <p:nvPr/>
        </p:nvSpPr>
        <p:spPr>
          <a:xfrm>
            <a:off x="4297680" y="3840480"/>
            <a:ext cx="2743200" cy="228600"/>
          </a:xfrm>
          <a:prstGeom prst="rect">
            <a:avLst/>
          </a:prstGeom>
          <a:noFill/>
          <a:ln/>
        </p:spPr>
        <p:txBody>
          <a:bodyPr wrap="square" lIns="0" tIns="0" rIns="0" bIns="0" rtlCol="0" anchor="ctr"/>
          <a:lstStyle/>
          <a:p>
            <a:pPr indent="0" marL="0">
              <a:buNone/>
            </a:pPr>
            <a:r>
              <a:rPr lang="en-US" sz="1300" b="1" dirty="0">
                <a:solidFill>
                  <a:srgbClr val="7D4E57"/>
                </a:solidFill>
                <a:latin typeface="Calibri" pitchFamily="34" charset="0"/>
                <a:ea typeface="Calibri" pitchFamily="34" charset="-122"/>
                <a:cs typeface="Calibri" pitchFamily="34" charset="-120"/>
              </a:rPr>
              <a:t>Audiencia</a:t>
            </a:r>
            <a:endParaRPr lang="en-US" sz="1300" dirty="0"/>
          </a:p>
        </p:txBody>
      </p:sp>
      <p:sp>
        <p:nvSpPr>
          <p:cNvPr id="31" name="Text 29"/>
          <p:cNvSpPr/>
          <p:nvPr/>
        </p:nvSpPr>
        <p:spPr>
          <a:xfrm>
            <a:off x="4297680" y="4023360"/>
            <a:ext cx="2743200" cy="182880"/>
          </a:xfrm>
          <a:prstGeom prst="rect">
            <a:avLst/>
          </a:prstGeom>
          <a:noFill/>
          <a:ln/>
        </p:spPr>
        <p:txBody>
          <a:bodyPr wrap="square" lIns="0" tIns="0" rIns="0" bIns="0" rtlCol="0" anchor="ctr"/>
          <a:lstStyle/>
          <a:p>
            <a:pPr indent="0" marL="0">
              <a:buNone/>
            </a:pPr>
            <a:r>
              <a:rPr lang="en-US" sz="1000" i="1" dirty="0">
                <a:solidFill>
                  <a:srgbClr val="7A6B6B"/>
                </a:solidFill>
                <a:latin typeface="Calibri Light" pitchFamily="34" charset="0"/>
                <a:ea typeface="Calibri Light" pitchFamily="34" charset="-122"/>
                <a:cs typeface="Calibri Light" pitchFamily="34" charset="-120"/>
              </a:rPr>
              <a:t>Audience</a:t>
            </a:r>
            <a:endParaRPr lang="en-US" sz="1000" dirty="0"/>
          </a:p>
        </p:txBody>
      </p:sp>
      <p:sp>
        <p:nvSpPr>
          <p:cNvPr id="32" name="Text 30"/>
          <p:cNvSpPr/>
          <p:nvPr/>
        </p:nvSpPr>
        <p:spPr>
          <a:xfrm>
            <a:off x="3657600" y="4251960"/>
            <a:ext cx="548640" cy="365760"/>
          </a:xfrm>
          <a:prstGeom prst="rect">
            <a:avLst/>
          </a:prstGeom>
          <a:noFill/>
          <a:ln/>
        </p:spPr>
        <p:txBody>
          <a:bodyPr wrap="square" lIns="0" tIns="0" rIns="0" bIns="0" rtlCol="0" anchor="ctr"/>
          <a:lstStyle/>
          <a:p>
            <a:pPr indent="0" marL="0">
              <a:buNone/>
            </a:pPr>
            <a:r>
              <a:rPr lang="en-US" sz="1400" b="1" dirty="0">
                <a:solidFill>
                  <a:srgbClr val="C9A96E"/>
                </a:solidFill>
                <a:latin typeface="Georgia" pitchFamily="34" charset="0"/>
                <a:ea typeface="Georgia" pitchFamily="34" charset="-122"/>
                <a:cs typeface="Georgia" pitchFamily="34" charset="-120"/>
              </a:rPr>
              <a:t>10</a:t>
            </a:r>
            <a:endParaRPr lang="en-US" sz="1400" dirty="0"/>
          </a:p>
        </p:txBody>
      </p:sp>
      <p:sp>
        <p:nvSpPr>
          <p:cNvPr id="33" name="Text 31"/>
          <p:cNvSpPr/>
          <p:nvPr/>
        </p:nvSpPr>
        <p:spPr>
          <a:xfrm>
            <a:off x="4297680" y="4251960"/>
            <a:ext cx="2743200" cy="228600"/>
          </a:xfrm>
          <a:prstGeom prst="rect">
            <a:avLst/>
          </a:prstGeom>
          <a:noFill/>
          <a:ln/>
        </p:spPr>
        <p:txBody>
          <a:bodyPr wrap="square" lIns="0" tIns="0" rIns="0" bIns="0" rtlCol="0" anchor="ctr"/>
          <a:lstStyle/>
          <a:p>
            <a:pPr indent="0" marL="0">
              <a:buNone/>
            </a:pPr>
            <a:r>
              <a:rPr lang="en-US" sz="1300" b="1" dirty="0">
                <a:solidFill>
                  <a:srgbClr val="7D4E57"/>
                </a:solidFill>
                <a:latin typeface="Calibri" pitchFamily="34" charset="0"/>
                <a:ea typeface="Calibri" pitchFamily="34" charset="-122"/>
                <a:cs typeface="Calibri" pitchFamily="34" charset="-120"/>
              </a:rPr>
              <a:t>Aplicaciones</a:t>
            </a:r>
            <a:endParaRPr lang="en-US" sz="1300" dirty="0"/>
          </a:p>
        </p:txBody>
      </p:sp>
      <p:sp>
        <p:nvSpPr>
          <p:cNvPr id="34" name="Text 32"/>
          <p:cNvSpPr/>
          <p:nvPr/>
        </p:nvSpPr>
        <p:spPr>
          <a:xfrm>
            <a:off x="4297680" y="4434840"/>
            <a:ext cx="2743200" cy="182880"/>
          </a:xfrm>
          <a:prstGeom prst="rect">
            <a:avLst/>
          </a:prstGeom>
          <a:noFill/>
          <a:ln/>
        </p:spPr>
        <p:txBody>
          <a:bodyPr wrap="square" lIns="0" tIns="0" rIns="0" bIns="0" rtlCol="0" anchor="ctr"/>
          <a:lstStyle/>
          <a:p>
            <a:pPr indent="0" marL="0">
              <a:buNone/>
            </a:pPr>
            <a:r>
              <a:rPr lang="en-US" sz="1000" i="1" dirty="0">
                <a:solidFill>
                  <a:srgbClr val="7A6B6B"/>
                </a:solidFill>
                <a:latin typeface="Calibri Light" pitchFamily="34" charset="0"/>
                <a:ea typeface="Calibri Light" pitchFamily="34" charset="-122"/>
                <a:cs typeface="Calibri Light" pitchFamily="34" charset="-120"/>
              </a:rPr>
              <a:t>Applications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8F4"/>
        </a:solidFill>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indent="0" marL="0">
              <a:buNone/>
            </a:pPr>
            <a:r>
              <a:rPr lang="en-US" sz="1400" dirty="0">
                <a:solidFill>
                  <a:srgbClr val="C9A96E"/>
                </a:solidFill>
                <a:latin typeface="Georgia" pitchFamily="34" charset="0"/>
                <a:ea typeface="Georgia" pitchFamily="34" charset="-122"/>
                <a:cs typeface="Georgia" pitchFamily="34" charset="-120"/>
              </a:rPr>
              <a:t>01</a:t>
            </a:r>
            <a:endParaRPr lang="en-US" sz="1400" dirty="0"/>
          </a:p>
        </p:txBody>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2800" b="1" dirty="0">
                <a:solidFill>
                  <a:srgbClr val="4A3035"/>
                </a:solidFill>
                <a:latin typeface="Georgia" pitchFamily="34" charset="0"/>
                <a:ea typeface="Georgia" pitchFamily="34" charset="-122"/>
                <a:cs typeface="Georgia" pitchFamily="34" charset="-120"/>
              </a:rPr>
              <a:t>Nuestra Esencia / Our Essence</a:t>
            </a:r>
            <a:endParaRPr lang="en-US" sz="2800" dirty="0"/>
          </a:p>
        </p:txBody>
      </p:sp>
      <p:sp>
        <p:nvSpPr>
          <p:cNvPr id="4" name="Shape 2"/>
          <p:cNvSpPr/>
          <p:nvPr/>
        </p:nvSpPr>
        <p:spPr>
          <a:xfrm>
            <a:off x="731520" y="1280160"/>
            <a:ext cx="1828800" cy="36576"/>
          </a:xfrm>
          <a:prstGeom prst="rect">
            <a:avLst/>
          </a:prstGeom>
          <a:solidFill>
            <a:srgbClr val="C9A96E"/>
          </a:solidFill>
          <a:ln/>
        </p:spPr>
      </p:sp>
      <p:sp>
        <p:nvSpPr>
          <p:cNvPr id="5" name="Shape 3"/>
          <p:cNvSpPr/>
          <p:nvPr/>
        </p:nvSpPr>
        <p:spPr>
          <a:xfrm>
            <a:off x="731520" y="1554480"/>
            <a:ext cx="3657600" cy="2926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Text 4"/>
          <p:cNvSpPr/>
          <p:nvPr/>
        </p:nvSpPr>
        <p:spPr>
          <a:xfrm>
            <a:off x="1005840" y="1691640"/>
            <a:ext cx="457200" cy="274320"/>
          </a:xfrm>
          <a:prstGeom prst="rect">
            <a:avLst/>
          </a:prstGeom>
          <a:noFill/>
          <a:ln/>
        </p:spPr>
        <p:txBody>
          <a:bodyPr wrap="square" lIns="0" tIns="0" rIns="0" bIns="0" rtlCol="0" anchor="ctr"/>
          <a:lstStyle/>
          <a:p>
            <a:pPr indent="0" marL="0">
              <a:buNone/>
            </a:pPr>
            <a:r>
              <a:rPr lang="en-US" sz="1000" b="1" dirty="0">
                <a:solidFill>
                  <a:srgbClr val="C9A96E"/>
                </a:solidFill>
                <a:latin typeface="Calibri" pitchFamily="34" charset="0"/>
                <a:ea typeface="Calibri" pitchFamily="34" charset="-122"/>
                <a:cs typeface="Calibri" pitchFamily="34" charset="-120"/>
              </a:rPr>
              <a:t>ES</a:t>
            </a:r>
            <a:endParaRPr lang="en-US" sz="1000" dirty="0"/>
          </a:p>
        </p:txBody>
      </p:sp>
      <p:sp>
        <p:nvSpPr>
          <p:cNvPr id="7" name="Text 5"/>
          <p:cNvSpPr/>
          <p:nvPr/>
        </p:nvSpPr>
        <p:spPr>
          <a:xfrm>
            <a:off x="1005840" y="1965960"/>
            <a:ext cx="3200400" cy="2286000"/>
          </a:xfrm>
          <a:prstGeom prst="rect">
            <a:avLst/>
          </a:prstGeom>
          <a:noFill/>
          <a:ln/>
        </p:spPr>
        <p:txBody>
          <a:bodyPr wrap="square" lIns="0" tIns="0" rIns="0" bIns="0" rtlCol="0" anchor="t"/>
          <a:lstStyle/>
          <a:p>
            <a:pPr indent="0" marL="0">
              <a:lnSpc>
                <a:spcPct val="130000"/>
              </a:lnSpc>
              <a:buNone/>
            </a:pPr>
            <a:r>
              <a:rPr lang="en-US" sz="1100" dirty="0">
                <a:solidFill>
                  <a:srgbClr val="4A3035"/>
                </a:solidFill>
                <a:latin typeface="Calibri" pitchFamily="34" charset="0"/>
                <a:ea typeface="Calibri" pitchFamily="34" charset="-122"/>
                <a:cs typeface="Calibri" pitchFamily="34" charset="-120"/>
              </a:rPr>
              <a:t>Ronda es más que una app. Es un círculo de mujeres que se sostienen, se impulsan y crecen juntas. Es el espacio donde pedir ayuda deja de dar miedo y se convierte en el primer paso para volar.</a:t>
            </a:r>
            <a:endParaRPr lang="en-US" sz="1100" dirty="0"/>
          </a:p>
          <a:p>
            <a:pPr indent="0" marL="0">
              <a:lnSpc>
                <a:spcPct val="130000"/>
              </a:lnSpc>
              <a:buNone/>
            </a:pPr>
            <a:endParaRPr lang="en-US" sz="1100" dirty="0"/>
          </a:p>
          <a:p>
            <a:pPr indent="0" marL="0">
              <a:lnSpc>
                <a:spcPct val="130000"/>
              </a:lnSpc>
              <a:buNone/>
            </a:pPr>
            <a:r>
              <a:rPr lang="en-US" sz="1100" dirty="0">
                <a:solidFill>
                  <a:srgbClr val="4A3035"/>
                </a:solidFill>
                <a:latin typeface="Calibri" pitchFamily="34" charset="0"/>
                <a:ea typeface="Calibri" pitchFamily="34" charset="-122"/>
                <a:cs typeface="Calibri" pitchFamily="34" charset="-120"/>
              </a:rPr>
              <a:t>Conectamos mujeres con ideas, profesiones y sueños con otras mujeres, especialistas, empresas y comunidades dispuestas a dar la mano. Porque ninguna mujer debería sentirse sola en su camino hacia la independencia, el bienestar y el crecimiento.</a:t>
            </a:r>
            <a:endParaRPr lang="en-US" sz="1100" dirty="0"/>
          </a:p>
        </p:txBody>
      </p:sp>
      <p:sp>
        <p:nvSpPr>
          <p:cNvPr id="8" name="Shape 6"/>
          <p:cNvSpPr/>
          <p:nvPr/>
        </p:nvSpPr>
        <p:spPr>
          <a:xfrm>
            <a:off x="4754880" y="1554480"/>
            <a:ext cx="3657600" cy="2926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Text 7"/>
          <p:cNvSpPr/>
          <p:nvPr/>
        </p:nvSpPr>
        <p:spPr>
          <a:xfrm>
            <a:off x="5029200" y="1691640"/>
            <a:ext cx="457200" cy="274320"/>
          </a:xfrm>
          <a:prstGeom prst="rect">
            <a:avLst/>
          </a:prstGeom>
          <a:noFill/>
          <a:ln/>
        </p:spPr>
        <p:txBody>
          <a:bodyPr wrap="square" lIns="0" tIns="0" rIns="0" bIns="0" rtlCol="0" anchor="ctr"/>
          <a:lstStyle/>
          <a:p>
            <a:pPr indent="0" marL="0">
              <a:buNone/>
            </a:pPr>
            <a:r>
              <a:rPr lang="en-US" sz="1000" b="1" dirty="0">
                <a:solidFill>
                  <a:srgbClr val="C9A96E"/>
                </a:solidFill>
                <a:latin typeface="Calibri" pitchFamily="34" charset="0"/>
                <a:ea typeface="Calibri" pitchFamily="34" charset="-122"/>
                <a:cs typeface="Calibri" pitchFamily="34" charset="-120"/>
              </a:rPr>
              <a:t>EN</a:t>
            </a:r>
            <a:endParaRPr lang="en-US" sz="1000" dirty="0"/>
          </a:p>
        </p:txBody>
      </p:sp>
      <p:sp>
        <p:nvSpPr>
          <p:cNvPr id="10" name="Text 8"/>
          <p:cNvSpPr/>
          <p:nvPr/>
        </p:nvSpPr>
        <p:spPr>
          <a:xfrm>
            <a:off x="5029200" y="1965960"/>
            <a:ext cx="3200400" cy="2286000"/>
          </a:xfrm>
          <a:prstGeom prst="rect">
            <a:avLst/>
          </a:prstGeom>
          <a:noFill/>
          <a:ln/>
        </p:spPr>
        <p:txBody>
          <a:bodyPr wrap="square" lIns="0" tIns="0" rIns="0" bIns="0" rtlCol="0" anchor="t"/>
          <a:lstStyle/>
          <a:p>
            <a:pPr indent="0" marL="0">
              <a:lnSpc>
                <a:spcPct val="130000"/>
              </a:lnSpc>
              <a:buNone/>
            </a:pPr>
            <a:r>
              <a:rPr lang="en-US" sz="1100" dirty="0">
                <a:solidFill>
                  <a:srgbClr val="4A3035"/>
                </a:solidFill>
                <a:latin typeface="Calibri" pitchFamily="34" charset="0"/>
                <a:ea typeface="Calibri" pitchFamily="34" charset="-122"/>
                <a:cs typeface="Calibri" pitchFamily="34" charset="-120"/>
              </a:rPr>
              <a:t>Ronda is more than an app. It's a circle of women who hold each other up, push each other forward, and grow together. It's the space where asking for help stops being scary and becomes the first step to soaring.</a:t>
            </a:r>
            <a:endParaRPr lang="en-US" sz="1100" dirty="0"/>
          </a:p>
          <a:p>
            <a:pPr indent="0" marL="0">
              <a:lnSpc>
                <a:spcPct val="130000"/>
              </a:lnSpc>
              <a:buNone/>
            </a:pPr>
            <a:endParaRPr lang="en-US" sz="1100" dirty="0"/>
          </a:p>
          <a:p>
            <a:pPr indent="0" marL="0">
              <a:lnSpc>
                <a:spcPct val="130000"/>
              </a:lnSpc>
              <a:buNone/>
            </a:pPr>
            <a:r>
              <a:rPr lang="en-US" sz="1100" dirty="0">
                <a:solidFill>
                  <a:srgbClr val="4A3035"/>
                </a:solidFill>
                <a:latin typeface="Calibri" pitchFamily="34" charset="0"/>
                <a:ea typeface="Calibri" pitchFamily="34" charset="-122"/>
                <a:cs typeface="Calibri" pitchFamily="34" charset="-120"/>
              </a:rPr>
              <a:t>We connect women with ideas, careers, and dreams to other women, specialists, businesses, and communities ready to lend a hand. Because no woman should feel alone on her path to independence, wellness, and growth.</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7D4E57"/>
        </a:solidFill>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indent="0" marL="0">
              <a:buNone/>
            </a:pPr>
            <a:r>
              <a:rPr lang="en-US" sz="1400" dirty="0">
                <a:solidFill>
                  <a:srgbClr val="E8D5A8"/>
                </a:solidFill>
                <a:latin typeface="Georgia" pitchFamily="34" charset="0"/>
                <a:ea typeface="Georgia" pitchFamily="34" charset="-122"/>
                <a:cs typeface="Georgia" pitchFamily="34" charset="-120"/>
              </a:rPr>
              <a:t>02</a:t>
            </a:r>
            <a:endParaRPr lang="en-US" sz="1400" dirty="0"/>
          </a:p>
        </p:txBody>
      </p:sp>
      <p:sp>
        <p:nvSpPr>
          <p:cNvPr id="3" name="Text 1"/>
          <p:cNvSpPr/>
          <p:nvPr/>
        </p:nvSpPr>
        <p:spPr>
          <a:xfrm>
            <a:off x="731520" y="822960"/>
            <a:ext cx="7315200" cy="914400"/>
          </a:xfrm>
          <a:prstGeom prst="rect">
            <a:avLst/>
          </a:prstGeom>
          <a:noFill/>
          <a:ln/>
        </p:spPr>
        <p:txBody>
          <a:bodyPr wrap="square" lIns="0" tIns="0" rIns="0" bIns="0" rtlCol="0" anchor="ctr"/>
          <a:lstStyle/>
          <a:p>
            <a:pPr indent="0" marL="0">
              <a:buNone/>
            </a:pPr>
            <a:r>
              <a:rPr lang="en-US" sz="4800" b="1" spc="800" kern="0" dirty="0">
                <a:solidFill>
                  <a:srgbClr val="FDF8F4"/>
                </a:solidFill>
                <a:latin typeface="Georgia" pitchFamily="34" charset="0"/>
                <a:ea typeface="Georgia" pitchFamily="34" charset="-122"/>
                <a:cs typeface="Georgia" pitchFamily="34" charset="-120"/>
              </a:rPr>
              <a:t>RONDA</a:t>
            </a:r>
            <a:endParaRPr lang="en-US" sz="4800" dirty="0"/>
          </a:p>
        </p:txBody>
      </p:sp>
      <p:sp>
        <p:nvSpPr>
          <p:cNvPr id="4" name="Shape 2"/>
          <p:cNvSpPr/>
          <p:nvPr/>
        </p:nvSpPr>
        <p:spPr>
          <a:xfrm>
            <a:off x="731520" y="2011680"/>
            <a:ext cx="54864" cy="2286000"/>
          </a:xfrm>
          <a:prstGeom prst="rect">
            <a:avLst/>
          </a:prstGeom>
          <a:solidFill>
            <a:srgbClr val="C9A96E"/>
          </a:solidFill>
          <a:ln/>
        </p:spPr>
      </p:sp>
      <p:sp>
        <p:nvSpPr>
          <p:cNvPr id="5" name="Text 3"/>
          <p:cNvSpPr/>
          <p:nvPr/>
        </p:nvSpPr>
        <p:spPr>
          <a:xfrm>
            <a:off x="1005840" y="2011680"/>
            <a:ext cx="3200400" cy="228600"/>
          </a:xfrm>
          <a:prstGeom prst="rect">
            <a:avLst/>
          </a:prstGeom>
          <a:noFill/>
          <a:ln/>
        </p:spPr>
        <p:txBody>
          <a:bodyPr wrap="square" lIns="0" tIns="0" rIns="0" bIns="0" rtlCol="0" anchor="ctr"/>
          <a:lstStyle/>
          <a:p>
            <a:pPr indent="0" marL="0">
              <a:buNone/>
            </a:pPr>
            <a:r>
              <a:rPr lang="en-US" sz="1300" b="1" dirty="0">
                <a:solidFill>
                  <a:srgbClr val="E8D5A8"/>
                </a:solidFill>
                <a:latin typeface="Georgia" pitchFamily="34" charset="0"/>
                <a:ea typeface="Georgia" pitchFamily="34" charset="-122"/>
                <a:cs typeface="Georgia" pitchFamily="34" charset="-120"/>
              </a:rPr>
              <a:t>La Ronda</a:t>
            </a:r>
            <a:endParaRPr lang="en-US" sz="1300" dirty="0"/>
          </a:p>
        </p:txBody>
      </p:sp>
      <p:sp>
        <p:nvSpPr>
          <p:cNvPr id="6" name="Text 4"/>
          <p:cNvSpPr/>
          <p:nvPr/>
        </p:nvSpPr>
        <p:spPr>
          <a:xfrm>
            <a:off x="1005840" y="2240280"/>
            <a:ext cx="3200400" cy="228600"/>
          </a:xfrm>
          <a:prstGeom prst="rect">
            <a:avLst/>
          </a:prstGeom>
          <a:noFill/>
          <a:ln/>
        </p:spPr>
        <p:txBody>
          <a:bodyPr wrap="square" lIns="0" tIns="0" rIns="0" bIns="0" rtlCol="0" anchor="ctr"/>
          <a:lstStyle/>
          <a:p>
            <a:pPr indent="0" marL="0">
              <a:buNone/>
            </a:pPr>
            <a:r>
              <a:rPr lang="en-US" sz="1100" dirty="0">
                <a:solidFill>
                  <a:srgbClr val="B5A5A5"/>
                </a:solidFill>
                <a:latin typeface="Calibri Light" pitchFamily="34" charset="0"/>
                <a:ea typeface="Calibri Light" pitchFamily="34" charset="-122"/>
                <a:cs typeface="Calibri Light" pitchFamily="34" charset="-120"/>
              </a:rPr>
              <a:t>El círculo de amigas que te sostiene</a:t>
            </a:r>
            <a:endParaRPr lang="en-US" sz="1100" dirty="0"/>
          </a:p>
        </p:txBody>
      </p:sp>
      <p:sp>
        <p:nvSpPr>
          <p:cNvPr id="7" name="Text 5"/>
          <p:cNvSpPr/>
          <p:nvPr/>
        </p:nvSpPr>
        <p:spPr>
          <a:xfrm>
            <a:off x="1005840" y="2560320"/>
            <a:ext cx="3200400" cy="228600"/>
          </a:xfrm>
          <a:prstGeom prst="rect">
            <a:avLst/>
          </a:prstGeom>
          <a:noFill/>
          <a:ln/>
        </p:spPr>
        <p:txBody>
          <a:bodyPr wrap="square" lIns="0" tIns="0" rIns="0" bIns="0" rtlCol="0" anchor="ctr"/>
          <a:lstStyle/>
          <a:p>
            <a:pPr indent="0" marL="0">
              <a:buNone/>
            </a:pPr>
            <a:r>
              <a:rPr lang="en-US" sz="1300" b="1" dirty="0">
                <a:solidFill>
                  <a:srgbClr val="E8D5A8"/>
                </a:solidFill>
                <a:latin typeface="Georgia" pitchFamily="34" charset="0"/>
                <a:ea typeface="Georgia" pitchFamily="34" charset="-122"/>
                <a:cs typeface="Georgia" pitchFamily="34" charset="-120"/>
              </a:rPr>
              <a:t>Dar la ronda</a:t>
            </a:r>
            <a:endParaRPr lang="en-US" sz="1300" dirty="0"/>
          </a:p>
        </p:txBody>
      </p:sp>
      <p:sp>
        <p:nvSpPr>
          <p:cNvPr id="8" name="Text 6"/>
          <p:cNvSpPr/>
          <p:nvPr/>
        </p:nvSpPr>
        <p:spPr>
          <a:xfrm>
            <a:off x="1005840" y="2788920"/>
            <a:ext cx="3200400" cy="228600"/>
          </a:xfrm>
          <a:prstGeom prst="rect">
            <a:avLst/>
          </a:prstGeom>
          <a:noFill/>
          <a:ln/>
        </p:spPr>
        <p:txBody>
          <a:bodyPr wrap="square" lIns="0" tIns="0" rIns="0" bIns="0" rtlCol="0" anchor="ctr"/>
          <a:lstStyle/>
          <a:p>
            <a:pPr indent="0" marL="0">
              <a:buNone/>
            </a:pPr>
            <a:r>
              <a:rPr lang="en-US" sz="1100" dirty="0">
                <a:solidFill>
                  <a:srgbClr val="B5A5A5"/>
                </a:solidFill>
                <a:latin typeface="Calibri Light" pitchFamily="34" charset="0"/>
                <a:ea typeface="Calibri Light" pitchFamily="34" charset="-122"/>
                <a:cs typeface="Calibri Light" pitchFamily="34" charset="-120"/>
              </a:rPr>
              <a:t>Volver a empezar, dar la vuelta</a:t>
            </a:r>
            <a:endParaRPr lang="en-US" sz="1100" dirty="0"/>
          </a:p>
        </p:txBody>
      </p:sp>
      <p:sp>
        <p:nvSpPr>
          <p:cNvPr id="9" name="Text 7"/>
          <p:cNvSpPr/>
          <p:nvPr/>
        </p:nvSpPr>
        <p:spPr>
          <a:xfrm>
            <a:off x="1005840" y="3108960"/>
            <a:ext cx="3200400" cy="228600"/>
          </a:xfrm>
          <a:prstGeom prst="rect">
            <a:avLst/>
          </a:prstGeom>
          <a:noFill/>
          <a:ln/>
        </p:spPr>
        <p:txBody>
          <a:bodyPr wrap="square" lIns="0" tIns="0" rIns="0" bIns="0" rtlCol="0" anchor="ctr"/>
          <a:lstStyle/>
          <a:p>
            <a:pPr indent="0" marL="0">
              <a:buNone/>
            </a:pPr>
            <a:r>
              <a:rPr lang="en-US" sz="1300" b="1" dirty="0">
                <a:solidFill>
                  <a:srgbClr val="E8D5A8"/>
                </a:solidFill>
                <a:latin typeface="Georgia" pitchFamily="34" charset="0"/>
                <a:ea typeface="Georgia" pitchFamily="34" charset="-122"/>
                <a:cs typeface="Georgia" pitchFamily="34" charset="-120"/>
              </a:rPr>
              <a:t>Hacer ronda</a:t>
            </a:r>
            <a:endParaRPr lang="en-US" sz="1300" dirty="0"/>
          </a:p>
        </p:txBody>
      </p:sp>
      <p:sp>
        <p:nvSpPr>
          <p:cNvPr id="10" name="Text 8"/>
          <p:cNvSpPr/>
          <p:nvPr/>
        </p:nvSpPr>
        <p:spPr>
          <a:xfrm>
            <a:off x="1005840" y="3337560"/>
            <a:ext cx="3200400" cy="228600"/>
          </a:xfrm>
          <a:prstGeom prst="rect">
            <a:avLst/>
          </a:prstGeom>
          <a:noFill/>
          <a:ln/>
        </p:spPr>
        <p:txBody>
          <a:bodyPr wrap="square" lIns="0" tIns="0" rIns="0" bIns="0" rtlCol="0" anchor="ctr"/>
          <a:lstStyle/>
          <a:p>
            <a:pPr indent="0" marL="0">
              <a:buNone/>
            </a:pPr>
            <a:r>
              <a:rPr lang="en-US" sz="1100" dirty="0">
                <a:solidFill>
                  <a:srgbClr val="B5A5A5"/>
                </a:solidFill>
                <a:latin typeface="Calibri Light" pitchFamily="34" charset="0"/>
                <a:ea typeface="Calibri Light" pitchFamily="34" charset="-122"/>
                <a:cs typeface="Calibri Light" pitchFamily="34" charset="-120"/>
              </a:rPr>
              <a:t>Vigilar, cuidar, proteger</a:t>
            </a:r>
            <a:endParaRPr lang="en-US" sz="1100" dirty="0"/>
          </a:p>
        </p:txBody>
      </p:sp>
      <p:sp>
        <p:nvSpPr>
          <p:cNvPr id="11" name="Text 9"/>
          <p:cNvSpPr/>
          <p:nvPr/>
        </p:nvSpPr>
        <p:spPr>
          <a:xfrm>
            <a:off x="1005840" y="3657600"/>
            <a:ext cx="3200400" cy="228600"/>
          </a:xfrm>
          <a:prstGeom prst="rect">
            <a:avLst/>
          </a:prstGeom>
          <a:noFill/>
          <a:ln/>
        </p:spPr>
        <p:txBody>
          <a:bodyPr wrap="square" lIns="0" tIns="0" rIns="0" bIns="0" rtlCol="0" anchor="ctr"/>
          <a:lstStyle/>
          <a:p>
            <a:pPr indent="0" marL="0">
              <a:buNone/>
            </a:pPr>
            <a:r>
              <a:rPr lang="en-US" sz="1300" b="1" dirty="0">
                <a:solidFill>
                  <a:srgbClr val="E8D5A8"/>
                </a:solidFill>
                <a:latin typeface="Georgia" pitchFamily="34" charset="0"/>
                <a:ea typeface="Georgia" pitchFamily="34" charset="-122"/>
                <a:cs typeface="Georgia" pitchFamily="34" charset="-120"/>
              </a:rPr>
              <a:t>En ronda</a:t>
            </a:r>
            <a:endParaRPr lang="en-US" sz="1300" dirty="0"/>
          </a:p>
        </p:txBody>
      </p:sp>
      <p:sp>
        <p:nvSpPr>
          <p:cNvPr id="12" name="Text 10"/>
          <p:cNvSpPr/>
          <p:nvPr/>
        </p:nvSpPr>
        <p:spPr>
          <a:xfrm>
            <a:off x="1005840" y="3886200"/>
            <a:ext cx="3200400" cy="228600"/>
          </a:xfrm>
          <a:prstGeom prst="rect">
            <a:avLst/>
          </a:prstGeom>
          <a:noFill/>
          <a:ln/>
        </p:spPr>
        <p:txBody>
          <a:bodyPr wrap="square" lIns="0" tIns="0" rIns="0" bIns="0" rtlCol="0" anchor="ctr"/>
          <a:lstStyle/>
          <a:p>
            <a:pPr indent="0" marL="0">
              <a:buNone/>
            </a:pPr>
            <a:r>
              <a:rPr lang="en-US" sz="1100" dirty="0">
                <a:solidFill>
                  <a:srgbClr val="B5A5A5"/>
                </a:solidFill>
                <a:latin typeface="Calibri Light" pitchFamily="34" charset="0"/>
                <a:ea typeface="Calibri Light" pitchFamily="34" charset="-122"/>
                <a:cs typeface="Calibri Light" pitchFamily="34" charset="-120"/>
              </a:rPr>
              <a:t>Juntas, en comunidad, en círculo</a:t>
            </a:r>
            <a:endParaRPr lang="en-US" sz="1100" dirty="0"/>
          </a:p>
        </p:txBody>
      </p:sp>
      <p:sp>
        <p:nvSpPr>
          <p:cNvPr id="13" name="Shape 11"/>
          <p:cNvSpPr/>
          <p:nvPr/>
        </p:nvSpPr>
        <p:spPr>
          <a:xfrm>
            <a:off x="5029200" y="2011680"/>
            <a:ext cx="54864" cy="2286000"/>
          </a:xfrm>
          <a:prstGeom prst="rect">
            <a:avLst/>
          </a:prstGeom>
          <a:solidFill>
            <a:srgbClr val="C4908A"/>
          </a:solidFill>
          <a:ln/>
        </p:spPr>
      </p:sp>
      <p:sp>
        <p:nvSpPr>
          <p:cNvPr id="14" name="Text 12"/>
          <p:cNvSpPr/>
          <p:nvPr/>
        </p:nvSpPr>
        <p:spPr>
          <a:xfrm>
            <a:off x="5303520" y="2011680"/>
            <a:ext cx="3200400" cy="228600"/>
          </a:xfrm>
          <a:prstGeom prst="rect">
            <a:avLst/>
          </a:prstGeom>
          <a:noFill/>
          <a:ln/>
        </p:spPr>
        <p:txBody>
          <a:bodyPr wrap="square" lIns="0" tIns="0" rIns="0" bIns="0" rtlCol="0" anchor="ctr"/>
          <a:lstStyle/>
          <a:p>
            <a:pPr indent="0" marL="0">
              <a:buNone/>
            </a:pPr>
            <a:r>
              <a:rPr lang="en-US" sz="1300" b="1" dirty="0">
                <a:solidFill>
                  <a:srgbClr val="E8C4C0"/>
                </a:solidFill>
                <a:latin typeface="Georgia" pitchFamily="34" charset="0"/>
                <a:ea typeface="Georgia" pitchFamily="34" charset="-122"/>
                <a:cs typeface="Georgia" pitchFamily="34" charset="-120"/>
              </a:rPr>
              <a:t>Round / Circle</a:t>
            </a:r>
            <a:endParaRPr lang="en-US" sz="1300" dirty="0"/>
          </a:p>
        </p:txBody>
      </p:sp>
      <p:sp>
        <p:nvSpPr>
          <p:cNvPr id="15" name="Text 13"/>
          <p:cNvSpPr/>
          <p:nvPr/>
        </p:nvSpPr>
        <p:spPr>
          <a:xfrm>
            <a:off x="5303520" y="2240280"/>
            <a:ext cx="3200400" cy="228600"/>
          </a:xfrm>
          <a:prstGeom prst="rect">
            <a:avLst/>
          </a:prstGeom>
          <a:noFill/>
          <a:ln/>
        </p:spPr>
        <p:txBody>
          <a:bodyPr wrap="square" lIns="0" tIns="0" rIns="0" bIns="0" rtlCol="0" anchor="ctr"/>
          <a:lstStyle/>
          <a:p>
            <a:pPr indent="0" marL="0">
              <a:buNone/>
            </a:pPr>
            <a:r>
              <a:rPr lang="en-US" sz="1100" dirty="0">
                <a:solidFill>
                  <a:srgbClr val="B5A5A5"/>
                </a:solidFill>
                <a:latin typeface="Calibri Light" pitchFamily="34" charset="0"/>
                <a:ea typeface="Calibri Light" pitchFamily="34" charset="-122"/>
                <a:cs typeface="Calibri Light" pitchFamily="34" charset="-120"/>
              </a:rPr>
              <a:t>The circle of support around you</a:t>
            </a:r>
            <a:endParaRPr lang="en-US" sz="1100" dirty="0"/>
          </a:p>
        </p:txBody>
      </p:sp>
      <p:sp>
        <p:nvSpPr>
          <p:cNvPr id="16" name="Text 14"/>
          <p:cNvSpPr/>
          <p:nvPr/>
        </p:nvSpPr>
        <p:spPr>
          <a:xfrm>
            <a:off x="5303520" y="2560320"/>
            <a:ext cx="3200400" cy="228600"/>
          </a:xfrm>
          <a:prstGeom prst="rect">
            <a:avLst/>
          </a:prstGeom>
          <a:noFill/>
          <a:ln/>
        </p:spPr>
        <p:txBody>
          <a:bodyPr wrap="square" lIns="0" tIns="0" rIns="0" bIns="0" rtlCol="0" anchor="ctr"/>
          <a:lstStyle/>
          <a:p>
            <a:pPr indent="0" marL="0">
              <a:buNone/>
            </a:pPr>
            <a:r>
              <a:rPr lang="en-US" sz="1300" b="1" dirty="0">
                <a:solidFill>
                  <a:srgbClr val="E8C4C0"/>
                </a:solidFill>
                <a:latin typeface="Georgia" pitchFamily="34" charset="0"/>
                <a:ea typeface="Georgia" pitchFamily="34" charset="-122"/>
                <a:cs typeface="Georgia" pitchFamily="34" charset="-120"/>
              </a:rPr>
              <a:t>Making the rounds</a:t>
            </a:r>
            <a:endParaRPr lang="en-US" sz="1300" dirty="0"/>
          </a:p>
        </p:txBody>
      </p:sp>
      <p:sp>
        <p:nvSpPr>
          <p:cNvPr id="17" name="Text 15"/>
          <p:cNvSpPr/>
          <p:nvPr/>
        </p:nvSpPr>
        <p:spPr>
          <a:xfrm>
            <a:off x="5303520" y="2788920"/>
            <a:ext cx="3200400" cy="228600"/>
          </a:xfrm>
          <a:prstGeom prst="rect">
            <a:avLst/>
          </a:prstGeom>
          <a:noFill/>
          <a:ln/>
        </p:spPr>
        <p:txBody>
          <a:bodyPr wrap="square" lIns="0" tIns="0" rIns="0" bIns="0" rtlCol="0" anchor="ctr"/>
          <a:lstStyle/>
          <a:p>
            <a:pPr indent="0" marL="0">
              <a:buNone/>
            </a:pPr>
            <a:r>
              <a:rPr lang="en-US" sz="1100" dirty="0">
                <a:solidFill>
                  <a:srgbClr val="B5A5A5"/>
                </a:solidFill>
                <a:latin typeface="Calibri Light" pitchFamily="34" charset="0"/>
                <a:ea typeface="Calibri Light" pitchFamily="34" charset="-122"/>
                <a:cs typeface="Calibri Light" pitchFamily="34" charset="-120"/>
              </a:rPr>
              <a:t>Starting again, coming full circle</a:t>
            </a:r>
            <a:endParaRPr lang="en-US" sz="1100" dirty="0"/>
          </a:p>
        </p:txBody>
      </p:sp>
      <p:sp>
        <p:nvSpPr>
          <p:cNvPr id="18" name="Text 16"/>
          <p:cNvSpPr/>
          <p:nvPr/>
        </p:nvSpPr>
        <p:spPr>
          <a:xfrm>
            <a:off x="5303520" y="3108960"/>
            <a:ext cx="3200400" cy="228600"/>
          </a:xfrm>
          <a:prstGeom prst="rect">
            <a:avLst/>
          </a:prstGeom>
          <a:noFill/>
          <a:ln/>
        </p:spPr>
        <p:txBody>
          <a:bodyPr wrap="square" lIns="0" tIns="0" rIns="0" bIns="0" rtlCol="0" anchor="ctr"/>
          <a:lstStyle/>
          <a:p>
            <a:pPr indent="0" marL="0">
              <a:buNone/>
            </a:pPr>
            <a:r>
              <a:rPr lang="en-US" sz="1300" b="1" dirty="0">
                <a:solidFill>
                  <a:srgbClr val="E8C4C0"/>
                </a:solidFill>
                <a:latin typeface="Georgia" pitchFamily="34" charset="0"/>
                <a:ea typeface="Georgia" pitchFamily="34" charset="-122"/>
                <a:cs typeface="Georgia" pitchFamily="34" charset="-120"/>
              </a:rPr>
              <a:t>On guard</a:t>
            </a:r>
            <a:endParaRPr lang="en-US" sz="1300" dirty="0"/>
          </a:p>
        </p:txBody>
      </p:sp>
      <p:sp>
        <p:nvSpPr>
          <p:cNvPr id="19" name="Text 17"/>
          <p:cNvSpPr/>
          <p:nvPr/>
        </p:nvSpPr>
        <p:spPr>
          <a:xfrm>
            <a:off x="5303520" y="3337560"/>
            <a:ext cx="3200400" cy="228600"/>
          </a:xfrm>
          <a:prstGeom prst="rect">
            <a:avLst/>
          </a:prstGeom>
          <a:noFill/>
          <a:ln/>
        </p:spPr>
        <p:txBody>
          <a:bodyPr wrap="square" lIns="0" tIns="0" rIns="0" bIns="0" rtlCol="0" anchor="ctr"/>
          <a:lstStyle/>
          <a:p>
            <a:pPr indent="0" marL="0">
              <a:buNone/>
            </a:pPr>
            <a:r>
              <a:rPr lang="en-US" sz="1100" dirty="0">
                <a:solidFill>
                  <a:srgbClr val="B5A5A5"/>
                </a:solidFill>
                <a:latin typeface="Calibri Light" pitchFamily="34" charset="0"/>
                <a:ea typeface="Calibri Light" pitchFamily="34" charset="-122"/>
                <a:cs typeface="Calibri Light" pitchFamily="34" charset="-120"/>
              </a:rPr>
              <a:t>Watching over, protecting, caring</a:t>
            </a:r>
            <a:endParaRPr lang="en-US" sz="1100" dirty="0"/>
          </a:p>
        </p:txBody>
      </p:sp>
      <p:sp>
        <p:nvSpPr>
          <p:cNvPr id="20" name="Text 18"/>
          <p:cNvSpPr/>
          <p:nvPr/>
        </p:nvSpPr>
        <p:spPr>
          <a:xfrm>
            <a:off x="5303520" y="3657600"/>
            <a:ext cx="3200400" cy="228600"/>
          </a:xfrm>
          <a:prstGeom prst="rect">
            <a:avLst/>
          </a:prstGeom>
          <a:noFill/>
          <a:ln/>
        </p:spPr>
        <p:txBody>
          <a:bodyPr wrap="square" lIns="0" tIns="0" rIns="0" bIns="0" rtlCol="0" anchor="ctr"/>
          <a:lstStyle/>
          <a:p>
            <a:pPr indent="0" marL="0">
              <a:buNone/>
            </a:pPr>
            <a:r>
              <a:rPr lang="en-US" sz="1300" b="1" dirty="0">
                <a:solidFill>
                  <a:srgbClr val="E8C4C0"/>
                </a:solidFill>
                <a:latin typeface="Georgia" pitchFamily="34" charset="0"/>
                <a:ea typeface="Georgia" pitchFamily="34" charset="-122"/>
                <a:cs typeface="Georgia" pitchFamily="34" charset="-120"/>
              </a:rPr>
              <a:t>Bilingual</a:t>
            </a:r>
            <a:endParaRPr lang="en-US" sz="1300" dirty="0"/>
          </a:p>
        </p:txBody>
      </p:sp>
      <p:sp>
        <p:nvSpPr>
          <p:cNvPr id="21" name="Text 19"/>
          <p:cNvSpPr/>
          <p:nvPr/>
        </p:nvSpPr>
        <p:spPr>
          <a:xfrm>
            <a:off x="5303520" y="3886200"/>
            <a:ext cx="3200400" cy="228600"/>
          </a:xfrm>
          <a:prstGeom prst="rect">
            <a:avLst/>
          </a:prstGeom>
          <a:noFill/>
          <a:ln/>
        </p:spPr>
        <p:txBody>
          <a:bodyPr wrap="square" lIns="0" tIns="0" rIns="0" bIns="0" rtlCol="0" anchor="ctr"/>
          <a:lstStyle/>
          <a:p>
            <a:pPr indent="0" marL="0">
              <a:buNone/>
            </a:pPr>
            <a:r>
              <a:rPr lang="en-US" sz="1100" dirty="0">
                <a:solidFill>
                  <a:srgbClr val="B5A5A5"/>
                </a:solidFill>
                <a:latin typeface="Calibri Light" pitchFamily="34" charset="0"/>
                <a:ea typeface="Calibri Light" pitchFamily="34" charset="-122"/>
                <a:cs typeface="Calibri Light" pitchFamily="34" charset="-120"/>
              </a:rPr>
              <a:t>Works seamlessly in English &amp; Spanish</a:t>
            </a:r>
            <a:endParaRPr lang="en-US" sz="1100" dirty="0"/>
          </a:p>
        </p:txBody>
      </p:sp>
      <p:sp>
        <p:nvSpPr>
          <p:cNvPr id="22" name="Text 20"/>
          <p:cNvSpPr/>
          <p:nvPr/>
        </p:nvSpPr>
        <p:spPr>
          <a:xfrm>
            <a:off x="731520" y="4663440"/>
            <a:ext cx="2743200" cy="274320"/>
          </a:xfrm>
          <a:prstGeom prst="rect">
            <a:avLst/>
          </a:prstGeom>
          <a:noFill/>
          <a:ln/>
        </p:spPr>
        <p:txBody>
          <a:bodyPr wrap="square" lIns="0" tIns="0" rIns="0" bIns="0" rtlCol="0" anchor="ctr"/>
          <a:lstStyle/>
          <a:p>
            <a:pPr indent="0" marL="0">
              <a:buNone/>
            </a:pPr>
            <a:r>
              <a:rPr lang="en-US" sz="1000" dirty="0">
                <a:solidFill>
                  <a:srgbClr val="B5A5A5"/>
                </a:solidFill>
                <a:latin typeface="Calibri" pitchFamily="34" charset="0"/>
                <a:ea typeface="Calibri" pitchFamily="34" charset="-122"/>
                <a:cs typeface="Calibri" pitchFamily="34" charset="-120"/>
              </a:rPr>
              <a:t>rondahub.com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8F4"/>
        </a:solidFill>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indent="0" marL="0">
              <a:buNone/>
            </a:pPr>
            <a:r>
              <a:rPr lang="en-US" sz="1400" dirty="0">
                <a:solidFill>
                  <a:srgbClr val="C9A96E"/>
                </a:solidFill>
                <a:latin typeface="Georgia" pitchFamily="34" charset="0"/>
                <a:ea typeface="Georgia" pitchFamily="34" charset="-122"/>
                <a:cs typeface="Georgia" pitchFamily="34" charset="-120"/>
              </a:rPr>
              <a:t>03</a:t>
            </a:r>
            <a:endParaRPr lang="en-US" sz="1400" dirty="0"/>
          </a:p>
        </p:txBody>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2800" b="1" dirty="0">
                <a:solidFill>
                  <a:srgbClr val="4A3035"/>
                </a:solidFill>
                <a:latin typeface="Georgia" pitchFamily="34" charset="0"/>
                <a:ea typeface="Georgia" pitchFamily="34" charset="-122"/>
                <a:cs typeface="Georgia" pitchFamily="34" charset="-120"/>
              </a:rPr>
              <a:t>Taglines</a:t>
            </a:r>
            <a:endParaRPr lang="en-US" sz="2800" dirty="0"/>
          </a:p>
        </p:txBody>
      </p:sp>
      <p:sp>
        <p:nvSpPr>
          <p:cNvPr id="4" name="Shape 2"/>
          <p:cNvSpPr/>
          <p:nvPr/>
        </p:nvSpPr>
        <p:spPr>
          <a:xfrm>
            <a:off x="731520" y="1280160"/>
            <a:ext cx="1828800" cy="36576"/>
          </a:xfrm>
          <a:prstGeom prst="rect">
            <a:avLst/>
          </a:prstGeom>
          <a:solidFill>
            <a:srgbClr val="C9A96E"/>
          </a:solidFill>
          <a:ln/>
        </p:spPr>
      </p:sp>
      <p:sp>
        <p:nvSpPr>
          <p:cNvPr id="5" name="Shape 3"/>
          <p:cNvSpPr/>
          <p:nvPr/>
        </p:nvSpPr>
        <p:spPr>
          <a:xfrm>
            <a:off x="731520" y="1554480"/>
            <a:ext cx="7680960" cy="1463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Text 4"/>
          <p:cNvSpPr/>
          <p:nvPr/>
        </p:nvSpPr>
        <p:spPr>
          <a:xfrm>
            <a:off x="1097280" y="1691640"/>
            <a:ext cx="1371600" cy="228600"/>
          </a:xfrm>
          <a:prstGeom prst="rect">
            <a:avLst/>
          </a:prstGeom>
          <a:noFill/>
          <a:ln/>
        </p:spPr>
        <p:txBody>
          <a:bodyPr wrap="square" lIns="0" tIns="0" rIns="0" bIns="0" rtlCol="0" anchor="ctr"/>
          <a:lstStyle/>
          <a:p>
            <a:pPr indent="0" marL="0">
              <a:buNone/>
            </a:pPr>
            <a:r>
              <a:rPr lang="en-US" sz="900" b="1" dirty="0">
                <a:solidFill>
                  <a:srgbClr val="C9A96E"/>
                </a:solidFill>
                <a:latin typeface="Calibri" pitchFamily="34" charset="0"/>
                <a:ea typeface="Calibri" pitchFamily="34" charset="-122"/>
                <a:cs typeface="Calibri" pitchFamily="34" charset="-120"/>
              </a:rPr>
              <a:t>OPCIÓN A</a:t>
            </a:r>
            <a:endParaRPr lang="en-US" sz="900" dirty="0"/>
          </a:p>
        </p:txBody>
      </p:sp>
      <p:sp>
        <p:nvSpPr>
          <p:cNvPr id="7" name="Text 5"/>
          <p:cNvSpPr/>
          <p:nvPr/>
        </p:nvSpPr>
        <p:spPr>
          <a:xfrm>
            <a:off x="1097280" y="1920240"/>
            <a:ext cx="6858000" cy="457200"/>
          </a:xfrm>
          <a:prstGeom prst="rect">
            <a:avLst/>
          </a:prstGeom>
          <a:noFill/>
          <a:ln/>
        </p:spPr>
        <p:txBody>
          <a:bodyPr wrap="square" lIns="0" tIns="0" rIns="0" bIns="0" rtlCol="0" anchor="ctr"/>
          <a:lstStyle/>
          <a:p>
            <a:pPr indent="0" marL="0">
              <a:buNone/>
            </a:pPr>
            <a:r>
              <a:rPr lang="en-US" sz="2400" i="1" dirty="0">
                <a:solidFill>
                  <a:srgbClr val="4A3035"/>
                </a:solidFill>
                <a:latin typeface="Georgia" pitchFamily="34" charset="0"/>
                <a:ea typeface="Georgia" pitchFamily="34" charset="-122"/>
                <a:cs typeface="Georgia" pitchFamily="34" charset="-120"/>
              </a:rPr>
              <a:t>Creces tú, crecemos todas</a:t>
            </a:r>
            <a:endParaRPr lang="en-US" sz="2400" dirty="0"/>
          </a:p>
        </p:txBody>
      </p:sp>
      <p:sp>
        <p:nvSpPr>
          <p:cNvPr id="8" name="Text 6"/>
          <p:cNvSpPr/>
          <p:nvPr/>
        </p:nvSpPr>
        <p:spPr>
          <a:xfrm>
            <a:off x="1097280" y="2377440"/>
            <a:ext cx="6858000" cy="320040"/>
          </a:xfrm>
          <a:prstGeom prst="rect">
            <a:avLst/>
          </a:prstGeom>
          <a:noFill/>
          <a:ln/>
        </p:spPr>
        <p:txBody>
          <a:bodyPr wrap="square" lIns="0" tIns="0" rIns="0" bIns="0" rtlCol="0" anchor="ctr"/>
          <a:lstStyle/>
          <a:p>
            <a:pPr indent="0" marL="0">
              <a:buNone/>
            </a:pPr>
            <a:r>
              <a:rPr lang="en-US" sz="1400" i="1" dirty="0">
                <a:solidFill>
                  <a:srgbClr val="7A6B6B"/>
                </a:solidFill>
                <a:latin typeface="Calibri Light" pitchFamily="34" charset="0"/>
                <a:ea typeface="Calibri Light" pitchFamily="34" charset="-122"/>
                <a:cs typeface="Calibri Light" pitchFamily="34" charset="-120"/>
              </a:rPr>
              <a:t>You grow, we all grow</a:t>
            </a:r>
            <a:endParaRPr lang="en-US" sz="1400" dirty="0"/>
          </a:p>
        </p:txBody>
      </p:sp>
      <p:sp>
        <p:nvSpPr>
          <p:cNvPr id="9" name="Shape 7"/>
          <p:cNvSpPr/>
          <p:nvPr/>
        </p:nvSpPr>
        <p:spPr>
          <a:xfrm>
            <a:off x="731520" y="3291840"/>
            <a:ext cx="7680960" cy="1463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Text 8"/>
          <p:cNvSpPr/>
          <p:nvPr/>
        </p:nvSpPr>
        <p:spPr>
          <a:xfrm>
            <a:off x="1097280" y="3429000"/>
            <a:ext cx="1371600" cy="228600"/>
          </a:xfrm>
          <a:prstGeom prst="rect">
            <a:avLst/>
          </a:prstGeom>
          <a:noFill/>
          <a:ln/>
        </p:spPr>
        <p:txBody>
          <a:bodyPr wrap="square" lIns="0" tIns="0" rIns="0" bIns="0" rtlCol="0" anchor="ctr"/>
          <a:lstStyle/>
          <a:p>
            <a:pPr indent="0" marL="0">
              <a:buNone/>
            </a:pPr>
            <a:r>
              <a:rPr lang="en-US" sz="900" b="1" dirty="0">
                <a:solidFill>
                  <a:srgbClr val="C9A96E"/>
                </a:solidFill>
                <a:latin typeface="Calibri" pitchFamily="34" charset="0"/>
                <a:ea typeface="Calibri" pitchFamily="34" charset="-122"/>
                <a:cs typeface="Calibri" pitchFamily="34" charset="-120"/>
              </a:rPr>
              <a:t>OPCIÓN B</a:t>
            </a:r>
            <a:endParaRPr lang="en-US" sz="900" dirty="0"/>
          </a:p>
        </p:txBody>
      </p:sp>
      <p:sp>
        <p:nvSpPr>
          <p:cNvPr id="11" name="Text 9"/>
          <p:cNvSpPr/>
          <p:nvPr/>
        </p:nvSpPr>
        <p:spPr>
          <a:xfrm>
            <a:off x="1097280" y="3657600"/>
            <a:ext cx="6858000" cy="457200"/>
          </a:xfrm>
          <a:prstGeom prst="rect">
            <a:avLst/>
          </a:prstGeom>
          <a:noFill/>
          <a:ln/>
        </p:spPr>
        <p:txBody>
          <a:bodyPr wrap="square" lIns="0" tIns="0" rIns="0" bIns="0" rtlCol="0" anchor="ctr"/>
          <a:lstStyle/>
          <a:p>
            <a:pPr indent="0" marL="0">
              <a:buNone/>
            </a:pPr>
            <a:r>
              <a:rPr lang="en-US" sz="2400" i="1" dirty="0">
                <a:solidFill>
                  <a:srgbClr val="4A3035"/>
                </a:solidFill>
                <a:latin typeface="Georgia" pitchFamily="34" charset="0"/>
                <a:ea typeface="Georgia" pitchFamily="34" charset="-122"/>
                <a:cs typeface="Georgia" pitchFamily="34" charset="-120"/>
              </a:rPr>
              <a:t>Creces tú, crecemos nosotras</a:t>
            </a:r>
            <a:endParaRPr lang="en-US" sz="2400" dirty="0"/>
          </a:p>
        </p:txBody>
      </p:sp>
      <p:sp>
        <p:nvSpPr>
          <p:cNvPr id="12" name="Text 10"/>
          <p:cNvSpPr/>
          <p:nvPr/>
        </p:nvSpPr>
        <p:spPr>
          <a:xfrm>
            <a:off x="1097280" y="4114800"/>
            <a:ext cx="6858000" cy="320040"/>
          </a:xfrm>
          <a:prstGeom prst="rect">
            <a:avLst/>
          </a:prstGeom>
          <a:noFill/>
          <a:ln/>
        </p:spPr>
        <p:txBody>
          <a:bodyPr wrap="square" lIns="0" tIns="0" rIns="0" bIns="0" rtlCol="0" anchor="ctr"/>
          <a:lstStyle/>
          <a:p>
            <a:pPr indent="0" marL="0">
              <a:buNone/>
            </a:pPr>
            <a:r>
              <a:rPr lang="en-US" sz="1400" i="1" dirty="0">
                <a:solidFill>
                  <a:srgbClr val="7A6B6B"/>
                </a:solidFill>
                <a:latin typeface="Calibri Light" pitchFamily="34" charset="0"/>
                <a:ea typeface="Calibri Light" pitchFamily="34" charset="-122"/>
                <a:cs typeface="Calibri Light" pitchFamily="34" charset="-120"/>
              </a:rPr>
              <a:t>You grow, we grow together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D4E57"/>
        </a:solidFill>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indent="0" marL="0">
              <a:buNone/>
            </a:pPr>
            <a:r>
              <a:rPr lang="en-US" sz="1400" dirty="0">
                <a:solidFill>
                  <a:srgbClr val="E8D5A8"/>
                </a:solidFill>
                <a:latin typeface="Georgia" pitchFamily="34" charset="0"/>
                <a:ea typeface="Georgia" pitchFamily="34" charset="-122"/>
                <a:cs typeface="Georgia" pitchFamily="34" charset="-120"/>
              </a:rPr>
              <a:t>04</a:t>
            </a:r>
            <a:endParaRPr lang="en-US" sz="1400" dirty="0"/>
          </a:p>
        </p:txBody>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2400" b="1" dirty="0">
                <a:solidFill>
                  <a:srgbClr val="FDF8F4"/>
                </a:solidFill>
                <a:latin typeface="Georgia" pitchFamily="34" charset="0"/>
                <a:ea typeface="Georgia" pitchFamily="34" charset="-122"/>
                <a:cs typeface="Georgia" pitchFamily="34" charset="-120"/>
              </a:rPr>
              <a:t>Manifiesto de la Fundadora</a:t>
            </a:r>
            <a:endParaRPr lang="en-US" sz="2400" dirty="0"/>
          </a:p>
        </p:txBody>
      </p:sp>
      <p:sp>
        <p:nvSpPr>
          <p:cNvPr id="4" name="Text 2"/>
          <p:cNvSpPr/>
          <p:nvPr/>
        </p:nvSpPr>
        <p:spPr>
          <a:xfrm>
            <a:off x="731520" y="1143000"/>
            <a:ext cx="7315200" cy="320040"/>
          </a:xfrm>
          <a:prstGeom prst="rect">
            <a:avLst/>
          </a:prstGeom>
          <a:noFill/>
          <a:ln/>
        </p:spPr>
        <p:txBody>
          <a:bodyPr wrap="square" lIns="0" tIns="0" rIns="0" bIns="0" rtlCol="0" anchor="ctr"/>
          <a:lstStyle/>
          <a:p>
            <a:pPr indent="0" marL="0">
              <a:buNone/>
            </a:pPr>
            <a:r>
              <a:rPr lang="en-US" sz="1400" i="1" dirty="0">
                <a:solidFill>
                  <a:srgbClr val="E8D5A8"/>
                </a:solidFill>
                <a:latin typeface="Calibri Light" pitchFamily="34" charset="0"/>
                <a:ea typeface="Calibri Light" pitchFamily="34" charset="-122"/>
                <a:cs typeface="Calibri Light" pitchFamily="34" charset="-120"/>
              </a:rPr>
              <a:t>Founder's Manifesto</a:t>
            </a:r>
            <a:endParaRPr lang="en-US" sz="1400" dirty="0"/>
          </a:p>
        </p:txBody>
      </p:sp>
      <p:sp>
        <p:nvSpPr>
          <p:cNvPr id="5" name="Shape 3"/>
          <p:cNvSpPr/>
          <p:nvPr/>
        </p:nvSpPr>
        <p:spPr>
          <a:xfrm>
            <a:off x="731520" y="1737360"/>
            <a:ext cx="54864" cy="1371600"/>
          </a:xfrm>
          <a:prstGeom prst="rect">
            <a:avLst/>
          </a:prstGeom>
          <a:solidFill>
            <a:srgbClr val="C9A96E"/>
          </a:solidFill>
          <a:ln/>
        </p:spPr>
      </p:sp>
      <p:sp>
        <p:nvSpPr>
          <p:cNvPr id="6" name="Text 4"/>
          <p:cNvSpPr/>
          <p:nvPr/>
        </p:nvSpPr>
        <p:spPr>
          <a:xfrm>
            <a:off x="1097280" y="1737360"/>
            <a:ext cx="6858000" cy="1371600"/>
          </a:xfrm>
          <a:prstGeom prst="rect">
            <a:avLst/>
          </a:prstGeom>
          <a:noFill/>
          <a:ln/>
        </p:spPr>
        <p:txBody>
          <a:bodyPr wrap="square" lIns="0" tIns="0" rIns="0" bIns="0" rtlCol="0" anchor="ctr"/>
          <a:lstStyle/>
          <a:p>
            <a:pPr indent="0" marL="0">
              <a:lnSpc>
                <a:spcPct val="140000"/>
              </a:lnSpc>
              <a:buNone/>
            </a:pPr>
            <a:r>
              <a:rPr lang="en-US" sz="2800" i="1" dirty="0">
                <a:solidFill>
                  <a:srgbClr val="E8C4C0"/>
                </a:solidFill>
                <a:latin typeface="Georgia" pitchFamily="34" charset="0"/>
                <a:ea typeface="Georgia" pitchFamily="34" charset="-122"/>
                <a:cs typeface="Georgia" pitchFamily="34" charset="-120"/>
              </a:rPr>
              <a:t>Sanando en voz alta,</a:t>
            </a:r>
            <a:endParaRPr lang="en-US" sz="2800" dirty="0"/>
          </a:p>
          <a:p>
            <a:pPr indent="0" marL="0">
              <a:lnSpc>
                <a:spcPct val="140000"/>
              </a:lnSpc>
              <a:buNone/>
            </a:pPr>
            <a:r>
              <a:rPr lang="en-US" sz="2800" i="1" dirty="0">
                <a:solidFill>
                  <a:srgbClr val="E8C4C0"/>
                </a:solidFill>
                <a:latin typeface="Georgia" pitchFamily="34" charset="0"/>
                <a:ea typeface="Georgia" pitchFamily="34" charset="-122"/>
                <a:cs typeface="Georgia" pitchFamily="34" charset="-120"/>
              </a:rPr>
              <a:t>porque juntas crecemos más.</a:t>
            </a:r>
            <a:endParaRPr lang="en-US" sz="2800" dirty="0"/>
          </a:p>
        </p:txBody>
      </p:sp>
      <p:sp>
        <p:nvSpPr>
          <p:cNvPr id="7" name="Text 5"/>
          <p:cNvSpPr/>
          <p:nvPr/>
        </p:nvSpPr>
        <p:spPr>
          <a:xfrm>
            <a:off x="731520" y="3383280"/>
            <a:ext cx="7680960" cy="1371600"/>
          </a:xfrm>
          <a:prstGeom prst="rect">
            <a:avLst/>
          </a:prstGeom>
          <a:noFill/>
          <a:ln/>
        </p:spPr>
        <p:txBody>
          <a:bodyPr wrap="square" lIns="0" tIns="0" rIns="0" bIns="0" rtlCol="0" anchor="ctr"/>
          <a:lstStyle/>
          <a:p>
            <a:pPr indent="0" marL="0">
              <a:lnSpc>
                <a:spcPct val="150000"/>
              </a:lnSpc>
              <a:buNone/>
            </a:pPr>
            <a:r>
              <a:rPr lang="en-US" sz="1200" dirty="0">
                <a:solidFill>
                  <a:srgbClr val="B5A5A5"/>
                </a:solidFill>
                <a:latin typeface="Calibri Light" pitchFamily="34" charset="0"/>
                <a:ea typeface="Calibri Light" pitchFamily="34" charset="-122"/>
                <a:cs typeface="Calibri Light" pitchFamily="34" charset="-120"/>
              </a:rPr>
              <a:t>Creé Ronda porque conozco el peso de querer volar y sentir que las alas no alcanzan. Porque sé lo que es tener mil ideas y no saber por dónde empezar. Porque el silencio nunca fue la respuesta. Ronda nace de la convicción de que cuando una mujer crece, todas crecemos. Que pedir ayuda es un acto de valentía. Que la comunidad es la red que nos sostiene cuando decidimos saltar.</a:t>
            </a:r>
            <a:endParaRPr lang="en-US" sz="1200" dirty="0"/>
          </a:p>
        </p:txBody>
      </p:sp>
      <p:sp>
        <p:nvSpPr>
          <p:cNvPr id="8" name="Text 6"/>
          <p:cNvSpPr/>
          <p:nvPr/>
        </p:nvSpPr>
        <p:spPr>
          <a:xfrm>
            <a:off x="731520" y="4389120"/>
            <a:ext cx="7680960" cy="640080"/>
          </a:xfrm>
          <a:prstGeom prst="rect">
            <a:avLst/>
          </a:prstGeom>
          <a:noFill/>
          <a:ln/>
        </p:spPr>
        <p:txBody>
          <a:bodyPr wrap="square" lIns="0" tIns="0" rIns="0" bIns="0" rtlCol="0" anchor="ctr"/>
          <a:lstStyle/>
          <a:p>
            <a:pPr indent="0" marL="0">
              <a:lnSpc>
                <a:spcPct val="130000"/>
              </a:lnSpc>
              <a:buNone/>
            </a:pPr>
            <a:r>
              <a:rPr lang="en-US" sz="900" i="1" dirty="0">
                <a:solidFill>
                  <a:srgbClr val="7A6B6B"/>
                </a:solidFill>
                <a:latin typeface="Calibri Light" pitchFamily="34" charset="0"/>
                <a:ea typeface="Calibri Light" pitchFamily="34" charset="-122"/>
                <a:cs typeface="Calibri Light" pitchFamily="34" charset="-120"/>
              </a:rPr>
              <a:t>I created Ronda because I know what it feels like to want to fly when your wings feel too short. Because silence was never the answer. Ronda is born from the conviction that when one woman grows, we all grow. That asking for help is an act of courage. That community is the net that holds us when we decide to leap.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8F4"/>
        </a:solidFill>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indent="0" marL="0">
              <a:buNone/>
            </a:pPr>
            <a:r>
              <a:rPr lang="en-US" sz="1400" dirty="0">
                <a:solidFill>
                  <a:srgbClr val="C9A96E"/>
                </a:solidFill>
                <a:latin typeface="Georgia" pitchFamily="34" charset="0"/>
                <a:ea typeface="Georgia" pitchFamily="34" charset="-122"/>
                <a:cs typeface="Georgia" pitchFamily="34" charset="-120"/>
              </a:rPr>
              <a:t>05</a:t>
            </a:r>
            <a:endParaRPr lang="en-US" sz="1400" dirty="0"/>
          </a:p>
        </p:txBody>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2800" b="1" dirty="0">
                <a:solidFill>
                  <a:srgbClr val="4A3035"/>
                </a:solidFill>
                <a:latin typeface="Georgia" pitchFamily="34" charset="0"/>
                <a:ea typeface="Georgia" pitchFamily="34" charset="-122"/>
                <a:cs typeface="Georgia" pitchFamily="34" charset="-120"/>
              </a:rPr>
              <a:t>Paleta de Colores / Color Palette</a:t>
            </a:r>
            <a:endParaRPr lang="en-US" sz="2800" dirty="0"/>
          </a:p>
        </p:txBody>
      </p:sp>
      <p:sp>
        <p:nvSpPr>
          <p:cNvPr id="4" name="Shape 2"/>
          <p:cNvSpPr/>
          <p:nvPr/>
        </p:nvSpPr>
        <p:spPr>
          <a:xfrm>
            <a:off x="731520" y="1280160"/>
            <a:ext cx="1828800" cy="36576"/>
          </a:xfrm>
          <a:prstGeom prst="rect">
            <a:avLst/>
          </a:prstGeom>
          <a:solidFill>
            <a:srgbClr val="C9A96E"/>
          </a:solidFill>
          <a:ln/>
        </p:spPr>
      </p:sp>
      <p:sp>
        <p:nvSpPr>
          <p:cNvPr id="5" name="Shape 3"/>
          <p:cNvSpPr/>
          <p:nvPr/>
        </p:nvSpPr>
        <p:spPr>
          <a:xfrm>
            <a:off x="868680" y="1645920"/>
            <a:ext cx="1005840" cy="1005840"/>
          </a:xfrm>
          <a:prstGeom prst="ellipse">
            <a:avLst/>
          </a:prstGeom>
          <a:solidFill>
            <a:srgbClr val="C4908A"/>
          </a:solidFill>
          <a:ln/>
          <a:effectLst>
            <a:outerShdw sx="100000" sy="100000" kx="0" ky="0" algn="bl" rotWithShape="0" blurRad="76200" dist="25400" dir="8100000">
              <a:srgbClr val="000000">
                <a:alpha val="8000"/>
              </a:srgbClr>
            </a:outerShdw>
          </a:effectLst>
        </p:spPr>
      </p:sp>
      <p:sp>
        <p:nvSpPr>
          <p:cNvPr id="6" name="Text 4"/>
          <p:cNvSpPr/>
          <p:nvPr/>
        </p:nvSpPr>
        <p:spPr>
          <a:xfrm>
            <a:off x="731520" y="2834640"/>
            <a:ext cx="1280160" cy="548640"/>
          </a:xfrm>
          <a:prstGeom prst="rect">
            <a:avLst/>
          </a:prstGeom>
          <a:noFill/>
          <a:ln/>
        </p:spPr>
        <p:txBody>
          <a:bodyPr wrap="square" lIns="0" tIns="0" rIns="0" bIns="0" rtlCol="0" anchor="ctr"/>
          <a:lstStyle/>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Rosa Viejo</a:t>
            </a:r>
            <a:endParaRPr lang="en-US" sz="900" dirty="0"/>
          </a:p>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Dusty Rose</a:t>
            </a:r>
            <a:endParaRPr lang="en-US" sz="900" dirty="0"/>
          </a:p>
        </p:txBody>
      </p:sp>
      <p:sp>
        <p:nvSpPr>
          <p:cNvPr id="7" name="Text 5"/>
          <p:cNvSpPr/>
          <p:nvPr/>
        </p:nvSpPr>
        <p:spPr>
          <a:xfrm>
            <a:off x="731520" y="3337560"/>
            <a:ext cx="1280160" cy="228600"/>
          </a:xfrm>
          <a:prstGeom prst="rect">
            <a:avLst/>
          </a:prstGeom>
          <a:noFill/>
          <a:ln/>
        </p:spPr>
        <p:txBody>
          <a:bodyPr wrap="square" lIns="0" tIns="0" rIns="0" bIns="0" rtlCol="0" anchor="ctr"/>
          <a:lstStyle/>
          <a:p>
            <a:pPr algn="ctr" indent="0" marL="0">
              <a:buNone/>
            </a:pPr>
            <a:r>
              <a:rPr lang="en-US" sz="900" dirty="0">
                <a:solidFill>
                  <a:srgbClr val="7A6B6B"/>
                </a:solidFill>
                <a:latin typeface="Calibri" pitchFamily="34" charset="0"/>
                <a:ea typeface="Calibri" pitchFamily="34" charset="-122"/>
                <a:cs typeface="Calibri" pitchFamily="34" charset="-120"/>
              </a:rPr>
              <a:t>#C4908A</a:t>
            </a:r>
            <a:endParaRPr lang="en-US" sz="900" dirty="0"/>
          </a:p>
        </p:txBody>
      </p:sp>
      <p:sp>
        <p:nvSpPr>
          <p:cNvPr id="8" name="Text 6"/>
          <p:cNvSpPr/>
          <p:nvPr/>
        </p:nvSpPr>
        <p:spPr>
          <a:xfrm>
            <a:off x="731520" y="3566160"/>
            <a:ext cx="1280160" cy="228600"/>
          </a:xfrm>
          <a:prstGeom prst="rect">
            <a:avLst/>
          </a:prstGeom>
          <a:noFill/>
          <a:ln/>
        </p:spPr>
        <p:txBody>
          <a:bodyPr wrap="square" lIns="0" tIns="0" rIns="0" bIns="0" rtlCol="0" anchor="ctr"/>
          <a:lstStyle/>
          <a:p>
            <a:pPr algn="ctr" indent="0" marL="0">
              <a:buNone/>
            </a:pPr>
            <a:r>
              <a:rPr lang="en-US" sz="800" b="1" dirty="0">
                <a:solidFill>
                  <a:srgbClr val="C9A96E"/>
                </a:solidFill>
                <a:latin typeface="Calibri" pitchFamily="34" charset="0"/>
                <a:ea typeface="Calibri" pitchFamily="34" charset="-122"/>
                <a:cs typeface="Calibri" pitchFamily="34" charset="-120"/>
              </a:rPr>
              <a:t>Primary</a:t>
            </a:r>
            <a:endParaRPr lang="en-US" sz="800" dirty="0"/>
          </a:p>
        </p:txBody>
      </p:sp>
      <p:sp>
        <p:nvSpPr>
          <p:cNvPr id="9" name="Shape 7"/>
          <p:cNvSpPr/>
          <p:nvPr/>
        </p:nvSpPr>
        <p:spPr>
          <a:xfrm>
            <a:off x="2240280" y="1645920"/>
            <a:ext cx="1005840" cy="1005840"/>
          </a:xfrm>
          <a:prstGeom prst="ellipse">
            <a:avLst/>
          </a:prstGeom>
          <a:solidFill>
            <a:srgbClr val="E8C4C0"/>
          </a:solidFill>
          <a:ln/>
          <a:effectLst>
            <a:outerShdw sx="100000" sy="100000" kx="0" ky="0" algn="bl" rotWithShape="0" blurRad="76200" dist="25400" dir="8100000">
              <a:srgbClr val="000000">
                <a:alpha val="8000"/>
              </a:srgbClr>
            </a:outerShdw>
          </a:effectLst>
        </p:spPr>
      </p:sp>
      <p:sp>
        <p:nvSpPr>
          <p:cNvPr id="10" name="Text 8"/>
          <p:cNvSpPr/>
          <p:nvPr/>
        </p:nvSpPr>
        <p:spPr>
          <a:xfrm>
            <a:off x="2103120" y="2834640"/>
            <a:ext cx="1280160" cy="548640"/>
          </a:xfrm>
          <a:prstGeom prst="rect">
            <a:avLst/>
          </a:prstGeom>
          <a:noFill/>
          <a:ln/>
        </p:spPr>
        <p:txBody>
          <a:bodyPr wrap="square" lIns="0" tIns="0" rIns="0" bIns="0" rtlCol="0" anchor="ctr"/>
          <a:lstStyle/>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Rosa Claro</a:t>
            </a:r>
            <a:endParaRPr lang="en-US" sz="900" dirty="0"/>
          </a:p>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Light Rose</a:t>
            </a:r>
            <a:endParaRPr lang="en-US" sz="900" dirty="0"/>
          </a:p>
        </p:txBody>
      </p:sp>
      <p:sp>
        <p:nvSpPr>
          <p:cNvPr id="11" name="Text 9"/>
          <p:cNvSpPr/>
          <p:nvPr/>
        </p:nvSpPr>
        <p:spPr>
          <a:xfrm>
            <a:off x="2103120" y="3337560"/>
            <a:ext cx="1280160" cy="228600"/>
          </a:xfrm>
          <a:prstGeom prst="rect">
            <a:avLst/>
          </a:prstGeom>
          <a:noFill/>
          <a:ln/>
        </p:spPr>
        <p:txBody>
          <a:bodyPr wrap="square" lIns="0" tIns="0" rIns="0" bIns="0" rtlCol="0" anchor="ctr"/>
          <a:lstStyle/>
          <a:p>
            <a:pPr algn="ctr" indent="0" marL="0">
              <a:buNone/>
            </a:pPr>
            <a:r>
              <a:rPr lang="en-US" sz="900" dirty="0">
                <a:solidFill>
                  <a:srgbClr val="7A6B6B"/>
                </a:solidFill>
                <a:latin typeface="Calibri" pitchFamily="34" charset="0"/>
                <a:ea typeface="Calibri" pitchFamily="34" charset="-122"/>
                <a:cs typeface="Calibri" pitchFamily="34" charset="-120"/>
              </a:rPr>
              <a:t>#E8C4C0</a:t>
            </a:r>
            <a:endParaRPr lang="en-US" sz="900" dirty="0"/>
          </a:p>
        </p:txBody>
      </p:sp>
      <p:sp>
        <p:nvSpPr>
          <p:cNvPr id="12" name="Text 10"/>
          <p:cNvSpPr/>
          <p:nvPr/>
        </p:nvSpPr>
        <p:spPr>
          <a:xfrm>
            <a:off x="2103120" y="3566160"/>
            <a:ext cx="1280160" cy="228600"/>
          </a:xfrm>
          <a:prstGeom prst="rect">
            <a:avLst/>
          </a:prstGeom>
          <a:noFill/>
          <a:ln/>
        </p:spPr>
        <p:txBody>
          <a:bodyPr wrap="square" lIns="0" tIns="0" rIns="0" bIns="0" rtlCol="0" anchor="ctr"/>
          <a:lstStyle/>
          <a:p>
            <a:pPr algn="ctr" indent="0" marL="0">
              <a:buNone/>
            </a:pPr>
            <a:r>
              <a:rPr lang="en-US" sz="800" b="1" dirty="0">
                <a:solidFill>
                  <a:srgbClr val="C9A96E"/>
                </a:solidFill>
                <a:latin typeface="Calibri" pitchFamily="34" charset="0"/>
                <a:ea typeface="Calibri" pitchFamily="34" charset="-122"/>
                <a:cs typeface="Calibri" pitchFamily="34" charset="-120"/>
              </a:rPr>
              <a:t>Secondary</a:t>
            </a:r>
            <a:endParaRPr lang="en-US" sz="800" dirty="0"/>
          </a:p>
        </p:txBody>
      </p:sp>
      <p:sp>
        <p:nvSpPr>
          <p:cNvPr id="13" name="Shape 11"/>
          <p:cNvSpPr/>
          <p:nvPr/>
        </p:nvSpPr>
        <p:spPr>
          <a:xfrm>
            <a:off x="3611880" y="1645920"/>
            <a:ext cx="1005840" cy="1005840"/>
          </a:xfrm>
          <a:prstGeom prst="ellipse">
            <a:avLst/>
          </a:prstGeom>
          <a:solidFill>
            <a:srgbClr val="F5E1DE"/>
          </a:solidFill>
          <a:ln/>
          <a:effectLst>
            <a:outerShdw sx="100000" sy="100000" kx="0" ky="0" algn="bl" rotWithShape="0" blurRad="76200" dist="25400" dir="8100000">
              <a:srgbClr val="000000">
                <a:alpha val="8000"/>
              </a:srgbClr>
            </a:outerShdw>
          </a:effectLst>
        </p:spPr>
      </p:sp>
      <p:sp>
        <p:nvSpPr>
          <p:cNvPr id="14" name="Text 12"/>
          <p:cNvSpPr/>
          <p:nvPr/>
        </p:nvSpPr>
        <p:spPr>
          <a:xfrm>
            <a:off x="3474720" y="2834640"/>
            <a:ext cx="1280160" cy="548640"/>
          </a:xfrm>
          <a:prstGeom prst="rect">
            <a:avLst/>
          </a:prstGeom>
          <a:noFill/>
          <a:ln/>
        </p:spPr>
        <p:txBody>
          <a:bodyPr wrap="square" lIns="0" tIns="0" rIns="0" bIns="0" rtlCol="0" anchor="ctr"/>
          <a:lstStyle/>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Rosa Pálido</a:t>
            </a:r>
            <a:endParaRPr lang="en-US" sz="900" dirty="0"/>
          </a:p>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Pale Rose</a:t>
            </a:r>
            <a:endParaRPr lang="en-US" sz="900" dirty="0"/>
          </a:p>
        </p:txBody>
      </p:sp>
      <p:sp>
        <p:nvSpPr>
          <p:cNvPr id="15" name="Text 13"/>
          <p:cNvSpPr/>
          <p:nvPr/>
        </p:nvSpPr>
        <p:spPr>
          <a:xfrm>
            <a:off x="3474720" y="3337560"/>
            <a:ext cx="1280160" cy="228600"/>
          </a:xfrm>
          <a:prstGeom prst="rect">
            <a:avLst/>
          </a:prstGeom>
          <a:noFill/>
          <a:ln/>
        </p:spPr>
        <p:txBody>
          <a:bodyPr wrap="square" lIns="0" tIns="0" rIns="0" bIns="0" rtlCol="0" anchor="ctr"/>
          <a:lstStyle/>
          <a:p>
            <a:pPr algn="ctr" indent="0" marL="0">
              <a:buNone/>
            </a:pPr>
            <a:r>
              <a:rPr lang="en-US" sz="900" dirty="0">
                <a:solidFill>
                  <a:srgbClr val="7A6B6B"/>
                </a:solidFill>
                <a:latin typeface="Calibri" pitchFamily="34" charset="0"/>
                <a:ea typeface="Calibri" pitchFamily="34" charset="-122"/>
                <a:cs typeface="Calibri" pitchFamily="34" charset="-120"/>
              </a:rPr>
              <a:t>#F5E1DE</a:t>
            </a:r>
            <a:endParaRPr lang="en-US" sz="900" dirty="0"/>
          </a:p>
        </p:txBody>
      </p:sp>
      <p:sp>
        <p:nvSpPr>
          <p:cNvPr id="16" name="Text 14"/>
          <p:cNvSpPr/>
          <p:nvPr/>
        </p:nvSpPr>
        <p:spPr>
          <a:xfrm>
            <a:off x="3474720" y="3566160"/>
            <a:ext cx="1280160" cy="228600"/>
          </a:xfrm>
          <a:prstGeom prst="rect">
            <a:avLst/>
          </a:prstGeom>
          <a:noFill/>
          <a:ln/>
        </p:spPr>
        <p:txBody>
          <a:bodyPr wrap="square" lIns="0" tIns="0" rIns="0" bIns="0" rtlCol="0" anchor="ctr"/>
          <a:lstStyle/>
          <a:p>
            <a:pPr algn="ctr" indent="0" marL="0">
              <a:buNone/>
            </a:pPr>
            <a:r>
              <a:rPr lang="en-US" sz="800" b="1" dirty="0">
                <a:solidFill>
                  <a:srgbClr val="C9A96E"/>
                </a:solidFill>
                <a:latin typeface="Calibri" pitchFamily="34" charset="0"/>
                <a:ea typeface="Calibri" pitchFamily="34" charset="-122"/>
                <a:cs typeface="Calibri" pitchFamily="34" charset="-120"/>
              </a:rPr>
              <a:t>Background</a:t>
            </a:r>
            <a:endParaRPr lang="en-US" sz="800" dirty="0"/>
          </a:p>
        </p:txBody>
      </p:sp>
      <p:sp>
        <p:nvSpPr>
          <p:cNvPr id="17" name="Shape 15"/>
          <p:cNvSpPr/>
          <p:nvPr/>
        </p:nvSpPr>
        <p:spPr>
          <a:xfrm>
            <a:off x="4983480" y="1645920"/>
            <a:ext cx="1005840" cy="1005840"/>
          </a:xfrm>
          <a:prstGeom prst="ellipse">
            <a:avLst/>
          </a:prstGeom>
          <a:solidFill>
            <a:srgbClr val="C9A96E"/>
          </a:solidFill>
          <a:ln/>
          <a:effectLst>
            <a:outerShdw sx="100000" sy="100000" kx="0" ky="0" algn="bl" rotWithShape="0" blurRad="76200" dist="25400" dir="8100000">
              <a:srgbClr val="000000">
                <a:alpha val="8000"/>
              </a:srgbClr>
            </a:outerShdw>
          </a:effectLst>
        </p:spPr>
      </p:sp>
      <p:sp>
        <p:nvSpPr>
          <p:cNvPr id="18" name="Text 16"/>
          <p:cNvSpPr/>
          <p:nvPr/>
        </p:nvSpPr>
        <p:spPr>
          <a:xfrm>
            <a:off x="4846320" y="2834640"/>
            <a:ext cx="1280160" cy="548640"/>
          </a:xfrm>
          <a:prstGeom prst="rect">
            <a:avLst/>
          </a:prstGeom>
          <a:noFill/>
          <a:ln/>
        </p:spPr>
        <p:txBody>
          <a:bodyPr wrap="square" lIns="0" tIns="0" rIns="0" bIns="0" rtlCol="0" anchor="ctr"/>
          <a:lstStyle/>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Dorado</a:t>
            </a:r>
            <a:endParaRPr lang="en-US" sz="900" dirty="0"/>
          </a:p>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Gold</a:t>
            </a:r>
            <a:endParaRPr lang="en-US" sz="900" dirty="0"/>
          </a:p>
        </p:txBody>
      </p:sp>
      <p:sp>
        <p:nvSpPr>
          <p:cNvPr id="19" name="Text 17"/>
          <p:cNvSpPr/>
          <p:nvPr/>
        </p:nvSpPr>
        <p:spPr>
          <a:xfrm>
            <a:off x="4846320" y="3337560"/>
            <a:ext cx="1280160" cy="228600"/>
          </a:xfrm>
          <a:prstGeom prst="rect">
            <a:avLst/>
          </a:prstGeom>
          <a:noFill/>
          <a:ln/>
        </p:spPr>
        <p:txBody>
          <a:bodyPr wrap="square" lIns="0" tIns="0" rIns="0" bIns="0" rtlCol="0" anchor="ctr"/>
          <a:lstStyle/>
          <a:p>
            <a:pPr algn="ctr" indent="0" marL="0">
              <a:buNone/>
            </a:pPr>
            <a:r>
              <a:rPr lang="en-US" sz="900" dirty="0">
                <a:solidFill>
                  <a:srgbClr val="7A6B6B"/>
                </a:solidFill>
                <a:latin typeface="Calibri" pitchFamily="34" charset="0"/>
                <a:ea typeface="Calibri" pitchFamily="34" charset="-122"/>
                <a:cs typeface="Calibri" pitchFamily="34" charset="-120"/>
              </a:rPr>
              <a:t>#C9A96E</a:t>
            </a:r>
            <a:endParaRPr lang="en-US" sz="900" dirty="0"/>
          </a:p>
        </p:txBody>
      </p:sp>
      <p:sp>
        <p:nvSpPr>
          <p:cNvPr id="20" name="Text 18"/>
          <p:cNvSpPr/>
          <p:nvPr/>
        </p:nvSpPr>
        <p:spPr>
          <a:xfrm>
            <a:off x="4846320" y="3566160"/>
            <a:ext cx="1280160" cy="228600"/>
          </a:xfrm>
          <a:prstGeom prst="rect">
            <a:avLst/>
          </a:prstGeom>
          <a:noFill/>
          <a:ln/>
        </p:spPr>
        <p:txBody>
          <a:bodyPr wrap="square" lIns="0" tIns="0" rIns="0" bIns="0" rtlCol="0" anchor="ctr"/>
          <a:lstStyle/>
          <a:p>
            <a:pPr algn="ctr" indent="0" marL="0">
              <a:buNone/>
            </a:pPr>
            <a:r>
              <a:rPr lang="en-US" sz="800" b="1" dirty="0">
                <a:solidFill>
                  <a:srgbClr val="C9A96E"/>
                </a:solidFill>
                <a:latin typeface="Calibri" pitchFamily="34" charset="0"/>
                <a:ea typeface="Calibri" pitchFamily="34" charset="-122"/>
                <a:cs typeface="Calibri" pitchFamily="34" charset="-120"/>
              </a:rPr>
              <a:t>Accent</a:t>
            </a:r>
            <a:endParaRPr lang="en-US" sz="800" dirty="0"/>
          </a:p>
        </p:txBody>
      </p:sp>
      <p:sp>
        <p:nvSpPr>
          <p:cNvPr id="21" name="Shape 19"/>
          <p:cNvSpPr/>
          <p:nvPr/>
        </p:nvSpPr>
        <p:spPr>
          <a:xfrm>
            <a:off x="6355080" y="1645920"/>
            <a:ext cx="1005840" cy="1005840"/>
          </a:xfrm>
          <a:prstGeom prst="ellipse">
            <a:avLst/>
          </a:prstGeom>
          <a:solidFill>
            <a:srgbClr val="E8D5A8"/>
          </a:solidFill>
          <a:ln/>
          <a:effectLst>
            <a:outerShdw sx="100000" sy="100000" kx="0" ky="0" algn="bl" rotWithShape="0" blurRad="76200" dist="25400" dir="8100000">
              <a:srgbClr val="000000">
                <a:alpha val="8000"/>
              </a:srgbClr>
            </a:outerShdw>
          </a:effectLst>
        </p:spPr>
      </p:sp>
      <p:sp>
        <p:nvSpPr>
          <p:cNvPr id="22" name="Text 20"/>
          <p:cNvSpPr/>
          <p:nvPr/>
        </p:nvSpPr>
        <p:spPr>
          <a:xfrm>
            <a:off x="6217920" y="2834640"/>
            <a:ext cx="1280160" cy="548640"/>
          </a:xfrm>
          <a:prstGeom prst="rect">
            <a:avLst/>
          </a:prstGeom>
          <a:noFill/>
          <a:ln/>
        </p:spPr>
        <p:txBody>
          <a:bodyPr wrap="square" lIns="0" tIns="0" rIns="0" bIns="0" rtlCol="0" anchor="ctr"/>
          <a:lstStyle/>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Dorado Claro</a:t>
            </a:r>
            <a:endParaRPr lang="en-US" sz="900" dirty="0"/>
          </a:p>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Light Gold</a:t>
            </a:r>
            <a:endParaRPr lang="en-US" sz="900" dirty="0"/>
          </a:p>
        </p:txBody>
      </p:sp>
      <p:sp>
        <p:nvSpPr>
          <p:cNvPr id="23" name="Text 21"/>
          <p:cNvSpPr/>
          <p:nvPr/>
        </p:nvSpPr>
        <p:spPr>
          <a:xfrm>
            <a:off x="6217920" y="3337560"/>
            <a:ext cx="1280160" cy="228600"/>
          </a:xfrm>
          <a:prstGeom prst="rect">
            <a:avLst/>
          </a:prstGeom>
          <a:noFill/>
          <a:ln/>
        </p:spPr>
        <p:txBody>
          <a:bodyPr wrap="square" lIns="0" tIns="0" rIns="0" bIns="0" rtlCol="0" anchor="ctr"/>
          <a:lstStyle/>
          <a:p>
            <a:pPr algn="ctr" indent="0" marL="0">
              <a:buNone/>
            </a:pPr>
            <a:r>
              <a:rPr lang="en-US" sz="900" dirty="0">
                <a:solidFill>
                  <a:srgbClr val="7A6B6B"/>
                </a:solidFill>
                <a:latin typeface="Calibri" pitchFamily="34" charset="0"/>
                <a:ea typeface="Calibri" pitchFamily="34" charset="-122"/>
                <a:cs typeface="Calibri" pitchFamily="34" charset="-120"/>
              </a:rPr>
              <a:t>#E8D5A8</a:t>
            </a:r>
            <a:endParaRPr lang="en-US" sz="900" dirty="0"/>
          </a:p>
        </p:txBody>
      </p:sp>
      <p:sp>
        <p:nvSpPr>
          <p:cNvPr id="24" name="Text 22"/>
          <p:cNvSpPr/>
          <p:nvPr/>
        </p:nvSpPr>
        <p:spPr>
          <a:xfrm>
            <a:off x="6217920" y="3566160"/>
            <a:ext cx="1280160" cy="228600"/>
          </a:xfrm>
          <a:prstGeom prst="rect">
            <a:avLst/>
          </a:prstGeom>
          <a:noFill/>
          <a:ln/>
        </p:spPr>
        <p:txBody>
          <a:bodyPr wrap="square" lIns="0" tIns="0" rIns="0" bIns="0" rtlCol="0" anchor="ctr"/>
          <a:lstStyle/>
          <a:p>
            <a:pPr algn="ctr" indent="0" marL="0">
              <a:buNone/>
            </a:pPr>
            <a:r>
              <a:rPr lang="en-US" sz="800" b="1" dirty="0">
                <a:solidFill>
                  <a:srgbClr val="C9A96E"/>
                </a:solidFill>
                <a:latin typeface="Calibri" pitchFamily="34" charset="0"/>
                <a:ea typeface="Calibri" pitchFamily="34" charset="-122"/>
                <a:cs typeface="Calibri" pitchFamily="34" charset="-120"/>
              </a:rPr>
              <a:t>Accent Light</a:t>
            </a:r>
            <a:endParaRPr lang="en-US" sz="800" dirty="0"/>
          </a:p>
        </p:txBody>
      </p:sp>
      <p:sp>
        <p:nvSpPr>
          <p:cNvPr id="25" name="Shape 23"/>
          <p:cNvSpPr/>
          <p:nvPr/>
        </p:nvSpPr>
        <p:spPr>
          <a:xfrm>
            <a:off x="7726680" y="1645920"/>
            <a:ext cx="1005840" cy="1005840"/>
          </a:xfrm>
          <a:prstGeom prst="ellipse">
            <a:avLst/>
          </a:prstGeom>
          <a:solidFill>
            <a:srgbClr val="4A3035"/>
          </a:solidFill>
          <a:ln/>
          <a:effectLst>
            <a:outerShdw sx="100000" sy="100000" kx="0" ky="0" algn="bl" rotWithShape="0" blurRad="76200" dist="25400" dir="8100000">
              <a:srgbClr val="000000">
                <a:alpha val="8000"/>
              </a:srgbClr>
            </a:outerShdw>
          </a:effectLst>
        </p:spPr>
      </p:sp>
      <p:sp>
        <p:nvSpPr>
          <p:cNvPr id="26" name="Text 24"/>
          <p:cNvSpPr/>
          <p:nvPr/>
        </p:nvSpPr>
        <p:spPr>
          <a:xfrm>
            <a:off x="7589520" y="2834640"/>
            <a:ext cx="1280160" cy="548640"/>
          </a:xfrm>
          <a:prstGeom prst="rect">
            <a:avLst/>
          </a:prstGeom>
          <a:noFill/>
          <a:ln/>
        </p:spPr>
        <p:txBody>
          <a:bodyPr wrap="square" lIns="0" tIns="0" rIns="0" bIns="0" rtlCol="0" anchor="ctr"/>
          <a:lstStyle/>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Charcoal</a:t>
            </a:r>
            <a:endParaRPr lang="en-US" sz="900" dirty="0"/>
          </a:p>
          <a:p>
            <a:pPr algn="ctr" indent="0" marL="0">
              <a:lnSpc>
                <a:spcPct val="120000"/>
              </a:lnSpc>
              <a:buNone/>
            </a:pPr>
            <a:r>
              <a:rPr lang="en-US" sz="900" dirty="0">
                <a:solidFill>
                  <a:srgbClr val="4A3035"/>
                </a:solidFill>
                <a:latin typeface="Calibri" pitchFamily="34" charset="0"/>
                <a:ea typeface="Calibri" pitchFamily="34" charset="-122"/>
                <a:cs typeface="Calibri" pitchFamily="34" charset="-120"/>
              </a:rPr>
              <a:t>Charcoal</a:t>
            </a:r>
            <a:endParaRPr lang="en-US" sz="900" dirty="0"/>
          </a:p>
        </p:txBody>
      </p:sp>
      <p:sp>
        <p:nvSpPr>
          <p:cNvPr id="27" name="Text 25"/>
          <p:cNvSpPr/>
          <p:nvPr/>
        </p:nvSpPr>
        <p:spPr>
          <a:xfrm>
            <a:off x="7589520" y="3337560"/>
            <a:ext cx="1280160" cy="228600"/>
          </a:xfrm>
          <a:prstGeom prst="rect">
            <a:avLst/>
          </a:prstGeom>
          <a:noFill/>
          <a:ln/>
        </p:spPr>
        <p:txBody>
          <a:bodyPr wrap="square" lIns="0" tIns="0" rIns="0" bIns="0" rtlCol="0" anchor="ctr"/>
          <a:lstStyle/>
          <a:p>
            <a:pPr algn="ctr" indent="0" marL="0">
              <a:buNone/>
            </a:pPr>
            <a:r>
              <a:rPr lang="en-US" sz="900" dirty="0">
                <a:solidFill>
                  <a:srgbClr val="7A6B6B"/>
                </a:solidFill>
                <a:latin typeface="Calibri" pitchFamily="34" charset="0"/>
                <a:ea typeface="Calibri" pitchFamily="34" charset="-122"/>
                <a:cs typeface="Calibri" pitchFamily="34" charset="-120"/>
              </a:rPr>
              <a:t>#4A3035</a:t>
            </a:r>
            <a:endParaRPr lang="en-US" sz="900" dirty="0"/>
          </a:p>
        </p:txBody>
      </p:sp>
      <p:sp>
        <p:nvSpPr>
          <p:cNvPr id="28" name="Text 26"/>
          <p:cNvSpPr/>
          <p:nvPr/>
        </p:nvSpPr>
        <p:spPr>
          <a:xfrm>
            <a:off x="7589520" y="3566160"/>
            <a:ext cx="1280160" cy="228600"/>
          </a:xfrm>
          <a:prstGeom prst="rect">
            <a:avLst/>
          </a:prstGeom>
          <a:noFill/>
          <a:ln/>
        </p:spPr>
        <p:txBody>
          <a:bodyPr wrap="square" lIns="0" tIns="0" rIns="0" bIns="0" rtlCol="0" anchor="ctr"/>
          <a:lstStyle/>
          <a:p>
            <a:pPr algn="ctr" indent="0" marL="0">
              <a:buNone/>
            </a:pPr>
            <a:r>
              <a:rPr lang="en-US" sz="800" b="1" dirty="0">
                <a:solidFill>
                  <a:srgbClr val="C9A96E"/>
                </a:solidFill>
                <a:latin typeface="Calibri" pitchFamily="34" charset="0"/>
                <a:ea typeface="Calibri" pitchFamily="34" charset="-122"/>
                <a:cs typeface="Calibri" pitchFamily="34" charset="-120"/>
              </a:rPr>
              <a:t>Text / Dark BG</a:t>
            </a:r>
            <a:endParaRPr lang="en-US" sz="800" dirty="0"/>
          </a:p>
        </p:txBody>
      </p:sp>
      <p:sp>
        <p:nvSpPr>
          <p:cNvPr id="29" name="Shape 27"/>
          <p:cNvSpPr/>
          <p:nvPr/>
        </p:nvSpPr>
        <p:spPr>
          <a:xfrm>
            <a:off x="731520" y="4023360"/>
            <a:ext cx="7680960" cy="8229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0" name="Text 28"/>
          <p:cNvSpPr/>
          <p:nvPr/>
        </p:nvSpPr>
        <p:spPr>
          <a:xfrm>
            <a:off x="1005840" y="4114800"/>
            <a:ext cx="7132320" cy="640080"/>
          </a:xfrm>
          <a:prstGeom prst="rect">
            <a:avLst/>
          </a:prstGeom>
          <a:noFill/>
          <a:ln/>
        </p:spPr>
        <p:txBody>
          <a:bodyPr wrap="square" lIns="0" tIns="0" rIns="0" bIns="0" rtlCol="0" anchor="ctr"/>
          <a:lstStyle/>
          <a:p>
            <a:pPr indent="0" marL="0">
              <a:lnSpc>
                <a:spcPct val="130000"/>
              </a:lnSpc>
              <a:buNone/>
            </a:pPr>
            <a:r>
              <a:rPr lang="en-US" sz="1000" b="1" dirty="0">
                <a:solidFill>
                  <a:srgbClr val="C9A96E"/>
                </a:solidFill>
                <a:latin typeface="Calibri" pitchFamily="34" charset="0"/>
                <a:ea typeface="Calibri" pitchFamily="34" charset="-122"/>
                <a:cs typeface="Calibri" pitchFamily="34" charset="-120"/>
              </a:rPr>
              <a:t xml:space="preserve">Uso / Usage: </a:t>
            </a:r>
            <a:pPr indent="0" marL="0">
              <a:lnSpc>
                <a:spcPct val="130000"/>
              </a:lnSpc>
              <a:buNone/>
            </a:pPr>
            <a:r>
              <a:rPr lang="en-US" sz="1000" dirty="0">
                <a:solidFill>
                  <a:srgbClr val="4A3035"/>
                </a:solidFill>
                <a:latin typeface="Calibri" pitchFamily="34" charset="0"/>
                <a:ea typeface="Calibri" pitchFamily="34" charset="-122"/>
                <a:cs typeface="Calibri" pitchFamily="34" charset="-120"/>
              </a:rPr>
              <a:t>Rosa Viejo como color dominante (60%), Crema y blancos como base (25%), Dorado como acento de lujo y calidez (15%). El charcoal se usa para textos sobre fondos claros.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8F4"/>
        </a:solidFill>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indent="0" marL="0">
              <a:buNone/>
            </a:pPr>
            <a:r>
              <a:rPr lang="en-US" sz="1400" dirty="0">
                <a:solidFill>
                  <a:srgbClr val="C9A96E"/>
                </a:solidFill>
                <a:latin typeface="Georgia" pitchFamily="34" charset="0"/>
                <a:ea typeface="Georgia" pitchFamily="34" charset="-122"/>
                <a:cs typeface="Georgia" pitchFamily="34" charset="-120"/>
              </a:rPr>
              <a:t>06</a:t>
            </a:r>
            <a:endParaRPr lang="en-US" sz="1400" dirty="0"/>
          </a:p>
        </p:txBody>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2800" b="1" dirty="0">
                <a:solidFill>
                  <a:srgbClr val="4A3035"/>
                </a:solidFill>
                <a:latin typeface="Georgia" pitchFamily="34" charset="0"/>
                <a:ea typeface="Georgia" pitchFamily="34" charset="-122"/>
                <a:cs typeface="Georgia" pitchFamily="34" charset="-120"/>
              </a:rPr>
              <a:t>Tipografía / Typography</a:t>
            </a:r>
            <a:endParaRPr lang="en-US" sz="2800" dirty="0"/>
          </a:p>
        </p:txBody>
      </p:sp>
      <p:sp>
        <p:nvSpPr>
          <p:cNvPr id="4" name="Shape 2"/>
          <p:cNvSpPr/>
          <p:nvPr/>
        </p:nvSpPr>
        <p:spPr>
          <a:xfrm>
            <a:off x="731520" y="1280160"/>
            <a:ext cx="1828800" cy="36576"/>
          </a:xfrm>
          <a:prstGeom prst="rect">
            <a:avLst/>
          </a:prstGeom>
          <a:solidFill>
            <a:srgbClr val="C9A96E"/>
          </a:solidFill>
          <a:ln/>
        </p:spPr>
      </p:sp>
      <p:sp>
        <p:nvSpPr>
          <p:cNvPr id="5" name="Shape 3"/>
          <p:cNvSpPr/>
          <p:nvPr/>
        </p:nvSpPr>
        <p:spPr>
          <a:xfrm>
            <a:off x="731520" y="1554480"/>
            <a:ext cx="3657600" cy="3200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Text 4"/>
          <p:cNvSpPr/>
          <p:nvPr/>
        </p:nvSpPr>
        <p:spPr>
          <a:xfrm>
            <a:off x="1005840" y="1691640"/>
            <a:ext cx="3108960" cy="228600"/>
          </a:xfrm>
          <a:prstGeom prst="rect">
            <a:avLst/>
          </a:prstGeom>
          <a:noFill/>
          <a:ln/>
        </p:spPr>
        <p:txBody>
          <a:bodyPr wrap="square" lIns="0" tIns="0" rIns="0" bIns="0" rtlCol="0" anchor="ctr"/>
          <a:lstStyle/>
          <a:p>
            <a:pPr indent="0" marL="0">
              <a:buNone/>
            </a:pPr>
            <a:r>
              <a:rPr lang="en-US" sz="900" b="1" dirty="0">
                <a:solidFill>
                  <a:srgbClr val="C9A96E"/>
                </a:solidFill>
                <a:latin typeface="Calibri" pitchFamily="34" charset="0"/>
                <a:ea typeface="Calibri" pitchFamily="34" charset="-122"/>
                <a:cs typeface="Calibri" pitchFamily="34" charset="-120"/>
              </a:rPr>
              <a:t>DISPLAY / TÍTULOS</a:t>
            </a:r>
            <a:endParaRPr lang="en-US" sz="900" dirty="0"/>
          </a:p>
        </p:txBody>
      </p:sp>
      <p:sp>
        <p:nvSpPr>
          <p:cNvPr id="7" name="Text 5"/>
          <p:cNvSpPr/>
          <p:nvPr/>
        </p:nvSpPr>
        <p:spPr>
          <a:xfrm>
            <a:off x="1005840" y="2011680"/>
            <a:ext cx="3108960" cy="640080"/>
          </a:xfrm>
          <a:prstGeom prst="rect">
            <a:avLst/>
          </a:prstGeom>
          <a:noFill/>
          <a:ln/>
        </p:spPr>
        <p:txBody>
          <a:bodyPr wrap="square" lIns="0" tIns="0" rIns="0" bIns="0" rtlCol="0" anchor="ctr"/>
          <a:lstStyle/>
          <a:p>
            <a:pPr indent="0" marL="0">
              <a:buNone/>
            </a:pPr>
            <a:r>
              <a:rPr lang="en-US" sz="3600" dirty="0">
                <a:solidFill>
                  <a:srgbClr val="4A3035"/>
                </a:solidFill>
                <a:latin typeface="Georgia" pitchFamily="34" charset="0"/>
                <a:ea typeface="Georgia" pitchFamily="34" charset="-122"/>
                <a:cs typeface="Georgia" pitchFamily="34" charset="-120"/>
              </a:rPr>
              <a:t>Georgia</a:t>
            </a:r>
            <a:endParaRPr lang="en-US" sz="3600" dirty="0"/>
          </a:p>
        </p:txBody>
      </p:sp>
      <p:sp>
        <p:nvSpPr>
          <p:cNvPr id="8" name="Text 6"/>
          <p:cNvSpPr/>
          <p:nvPr/>
        </p:nvSpPr>
        <p:spPr>
          <a:xfrm>
            <a:off x="1005840" y="2606040"/>
            <a:ext cx="3108960" cy="365760"/>
          </a:xfrm>
          <a:prstGeom prst="rect">
            <a:avLst/>
          </a:prstGeom>
          <a:noFill/>
          <a:ln/>
        </p:spPr>
        <p:txBody>
          <a:bodyPr wrap="square" lIns="0" tIns="0" rIns="0" bIns="0" rtlCol="0" anchor="ctr"/>
          <a:lstStyle/>
          <a:p>
            <a:pPr indent="0" marL="0">
              <a:buNone/>
            </a:pPr>
            <a:r>
              <a:rPr lang="en-US" sz="1800" dirty="0">
                <a:solidFill>
                  <a:srgbClr val="C4908A"/>
                </a:solidFill>
                <a:latin typeface="Georgia" pitchFamily="34" charset="0"/>
                <a:ea typeface="Georgia" pitchFamily="34" charset="-122"/>
                <a:cs typeface="Georgia" pitchFamily="34" charset="-120"/>
              </a:rPr>
              <a:t>Aa Bb Cc Dd Ee Ff Gg</a:t>
            </a:r>
            <a:endParaRPr lang="en-US" sz="1800" dirty="0"/>
          </a:p>
        </p:txBody>
      </p:sp>
      <p:sp>
        <p:nvSpPr>
          <p:cNvPr id="9" name="Text 7"/>
          <p:cNvSpPr/>
          <p:nvPr/>
        </p:nvSpPr>
        <p:spPr>
          <a:xfrm>
            <a:off x="1005840" y="3063240"/>
            <a:ext cx="3108960" cy="1463040"/>
          </a:xfrm>
          <a:prstGeom prst="rect">
            <a:avLst/>
          </a:prstGeom>
          <a:noFill/>
          <a:ln/>
        </p:spPr>
        <p:txBody>
          <a:bodyPr wrap="square" lIns="0" tIns="0" rIns="0" bIns="0" rtlCol="0" anchor="ctr"/>
          <a:lstStyle/>
          <a:p>
            <a:pPr indent="0" marL="0">
              <a:lnSpc>
                <a:spcPct val="130000"/>
              </a:lnSpc>
              <a:buNone/>
            </a:pPr>
            <a:r>
              <a:rPr lang="en-US" sz="1000" dirty="0">
                <a:solidFill>
                  <a:srgbClr val="7A6B6B"/>
                </a:solidFill>
                <a:latin typeface="Calibri Light" pitchFamily="34" charset="0"/>
                <a:ea typeface="Calibri Light" pitchFamily="34" charset="-122"/>
                <a:cs typeface="Calibri Light" pitchFamily="34" charset="-120"/>
              </a:rPr>
              <a:t>Elegante, con personalidad, femenina sin ser frágil. Georgia transmite calidez y sofisticación. Usar para títulos, taglines y elementos destacados.</a:t>
            </a:r>
            <a:endParaRPr lang="en-US" sz="1000" dirty="0"/>
          </a:p>
          <a:p>
            <a:pPr indent="0" marL="0">
              <a:lnSpc>
                <a:spcPct val="130000"/>
              </a:lnSpc>
              <a:buNone/>
            </a:pPr>
            <a:endParaRPr lang="en-US" sz="1000" dirty="0"/>
          </a:p>
          <a:p>
            <a:pPr indent="0" marL="0">
              <a:lnSpc>
                <a:spcPct val="130000"/>
              </a:lnSpc>
              <a:buNone/>
            </a:pPr>
            <a:r>
              <a:rPr lang="en-US" sz="1000" dirty="0">
                <a:solidFill>
                  <a:srgbClr val="7A6B6B"/>
                </a:solidFill>
                <a:latin typeface="Calibri Light" pitchFamily="34" charset="0"/>
                <a:ea typeface="Calibri Light" pitchFamily="34" charset="-122"/>
                <a:cs typeface="Calibri Light" pitchFamily="34" charset="-120"/>
              </a:rPr>
              <a:t>Elegant, with personality, feminine without fragility. Use for titles, taglines, and featured elements.</a:t>
            </a:r>
            <a:endParaRPr lang="en-US" sz="1000" dirty="0"/>
          </a:p>
        </p:txBody>
      </p:sp>
      <p:sp>
        <p:nvSpPr>
          <p:cNvPr id="10" name="Shape 8"/>
          <p:cNvSpPr/>
          <p:nvPr/>
        </p:nvSpPr>
        <p:spPr>
          <a:xfrm>
            <a:off x="4754880" y="1554480"/>
            <a:ext cx="3657600" cy="3200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Text 9"/>
          <p:cNvSpPr/>
          <p:nvPr/>
        </p:nvSpPr>
        <p:spPr>
          <a:xfrm>
            <a:off x="5029200" y="1691640"/>
            <a:ext cx="3108960" cy="228600"/>
          </a:xfrm>
          <a:prstGeom prst="rect">
            <a:avLst/>
          </a:prstGeom>
          <a:noFill/>
          <a:ln/>
        </p:spPr>
        <p:txBody>
          <a:bodyPr wrap="square" lIns="0" tIns="0" rIns="0" bIns="0" rtlCol="0" anchor="ctr"/>
          <a:lstStyle/>
          <a:p>
            <a:pPr indent="0" marL="0">
              <a:buNone/>
            </a:pPr>
            <a:r>
              <a:rPr lang="en-US" sz="900" b="1" dirty="0">
                <a:solidFill>
                  <a:srgbClr val="C9A96E"/>
                </a:solidFill>
                <a:latin typeface="Calibri" pitchFamily="34" charset="0"/>
                <a:ea typeface="Calibri" pitchFamily="34" charset="-122"/>
                <a:cs typeface="Calibri" pitchFamily="34" charset="-120"/>
              </a:rPr>
              <a:t>CUERPO / BODY</a:t>
            </a:r>
            <a:endParaRPr lang="en-US" sz="900" dirty="0"/>
          </a:p>
        </p:txBody>
      </p:sp>
      <p:sp>
        <p:nvSpPr>
          <p:cNvPr id="12" name="Text 10"/>
          <p:cNvSpPr/>
          <p:nvPr/>
        </p:nvSpPr>
        <p:spPr>
          <a:xfrm>
            <a:off x="5029200" y="2011680"/>
            <a:ext cx="3108960" cy="640080"/>
          </a:xfrm>
          <a:prstGeom prst="rect">
            <a:avLst/>
          </a:prstGeom>
          <a:noFill/>
          <a:ln/>
        </p:spPr>
        <p:txBody>
          <a:bodyPr wrap="square" lIns="0" tIns="0" rIns="0" bIns="0" rtlCol="0" anchor="ctr"/>
          <a:lstStyle/>
          <a:p>
            <a:pPr indent="0" marL="0">
              <a:buNone/>
            </a:pPr>
            <a:r>
              <a:rPr lang="en-US" sz="3600" dirty="0">
                <a:solidFill>
                  <a:srgbClr val="4A3035"/>
                </a:solidFill>
                <a:latin typeface="Calibri" pitchFamily="34" charset="0"/>
                <a:ea typeface="Calibri" pitchFamily="34" charset="-122"/>
                <a:cs typeface="Calibri" pitchFamily="34" charset="-120"/>
              </a:rPr>
              <a:t>Calibri</a:t>
            </a:r>
            <a:endParaRPr lang="en-US" sz="3600" dirty="0"/>
          </a:p>
        </p:txBody>
      </p:sp>
      <p:sp>
        <p:nvSpPr>
          <p:cNvPr id="13" name="Text 11"/>
          <p:cNvSpPr/>
          <p:nvPr/>
        </p:nvSpPr>
        <p:spPr>
          <a:xfrm>
            <a:off x="5029200" y="2606040"/>
            <a:ext cx="3108960" cy="365760"/>
          </a:xfrm>
          <a:prstGeom prst="rect">
            <a:avLst/>
          </a:prstGeom>
          <a:noFill/>
          <a:ln/>
        </p:spPr>
        <p:txBody>
          <a:bodyPr wrap="square" lIns="0" tIns="0" rIns="0" bIns="0" rtlCol="0" anchor="ctr"/>
          <a:lstStyle/>
          <a:p>
            <a:pPr indent="0" marL="0">
              <a:buNone/>
            </a:pPr>
            <a:r>
              <a:rPr lang="en-US" sz="1800" dirty="0">
                <a:solidFill>
                  <a:srgbClr val="C4908A"/>
                </a:solidFill>
                <a:latin typeface="Calibri" pitchFamily="34" charset="0"/>
                <a:ea typeface="Calibri" pitchFamily="34" charset="-122"/>
                <a:cs typeface="Calibri" pitchFamily="34" charset="-120"/>
              </a:rPr>
              <a:t>Aa Bb Cc Dd Ee Ff Gg</a:t>
            </a:r>
            <a:endParaRPr lang="en-US" sz="1800" dirty="0"/>
          </a:p>
        </p:txBody>
      </p:sp>
      <p:sp>
        <p:nvSpPr>
          <p:cNvPr id="14" name="Text 12"/>
          <p:cNvSpPr/>
          <p:nvPr/>
        </p:nvSpPr>
        <p:spPr>
          <a:xfrm>
            <a:off x="5029200" y="3063240"/>
            <a:ext cx="3108960" cy="1463040"/>
          </a:xfrm>
          <a:prstGeom prst="rect">
            <a:avLst/>
          </a:prstGeom>
          <a:noFill/>
          <a:ln/>
        </p:spPr>
        <p:txBody>
          <a:bodyPr wrap="square" lIns="0" tIns="0" rIns="0" bIns="0" rtlCol="0" anchor="ctr"/>
          <a:lstStyle/>
          <a:p>
            <a:pPr indent="0" marL="0">
              <a:lnSpc>
                <a:spcPct val="130000"/>
              </a:lnSpc>
              <a:buNone/>
            </a:pPr>
            <a:r>
              <a:rPr lang="en-US" sz="1000" dirty="0">
                <a:solidFill>
                  <a:srgbClr val="7A6B6B"/>
                </a:solidFill>
                <a:latin typeface="Calibri Light" pitchFamily="34" charset="0"/>
                <a:ea typeface="Calibri Light" pitchFamily="34" charset="-122"/>
                <a:cs typeface="Calibri Light" pitchFamily="34" charset="-120"/>
              </a:rPr>
              <a:t>Limpia, moderna, legible. Calibri y Calibri Light para cuerpo de texto, descripciones y contenido general. Calibri Light para textos secundarios e itálicas.</a:t>
            </a:r>
            <a:endParaRPr lang="en-US" sz="1000" dirty="0"/>
          </a:p>
          <a:p>
            <a:pPr indent="0" marL="0">
              <a:lnSpc>
                <a:spcPct val="130000"/>
              </a:lnSpc>
              <a:buNone/>
            </a:pPr>
            <a:endParaRPr lang="en-US" sz="1000" dirty="0"/>
          </a:p>
          <a:p>
            <a:pPr indent="0" marL="0">
              <a:lnSpc>
                <a:spcPct val="130000"/>
              </a:lnSpc>
              <a:buNone/>
            </a:pPr>
            <a:r>
              <a:rPr lang="en-US" sz="1000" dirty="0">
                <a:solidFill>
                  <a:srgbClr val="7A6B6B"/>
                </a:solidFill>
                <a:latin typeface="Calibri Light" pitchFamily="34" charset="0"/>
                <a:ea typeface="Calibri Light" pitchFamily="34" charset="-122"/>
                <a:cs typeface="Calibri Light" pitchFamily="34" charset="-120"/>
              </a:rPr>
              <a:t>Clean, modern, readable. Calibri and Calibri Light for body text, descriptions, and general content.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7D4E57"/>
        </a:solidFill>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indent="0" marL="0">
              <a:buNone/>
            </a:pPr>
            <a:r>
              <a:rPr lang="en-US" sz="1400" dirty="0">
                <a:solidFill>
                  <a:srgbClr val="E8D5A8"/>
                </a:solidFill>
                <a:latin typeface="Georgia" pitchFamily="34" charset="0"/>
                <a:ea typeface="Georgia" pitchFamily="34" charset="-122"/>
                <a:cs typeface="Georgia" pitchFamily="34" charset="-120"/>
              </a:rPr>
              <a:t>07</a:t>
            </a:r>
            <a:endParaRPr lang="en-US" sz="1400" dirty="0"/>
          </a:p>
        </p:txBody>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2800" b="1" dirty="0">
                <a:solidFill>
                  <a:srgbClr val="FDF8F4"/>
                </a:solidFill>
                <a:latin typeface="Georgia" pitchFamily="34" charset="0"/>
                <a:ea typeface="Georgia" pitchFamily="34" charset="-122"/>
                <a:cs typeface="Georgia" pitchFamily="34" charset="-120"/>
              </a:rPr>
              <a:t>Tono de Voz / Tone of Voice</a:t>
            </a:r>
            <a:endParaRPr lang="en-US" sz="2800" dirty="0"/>
          </a:p>
        </p:txBody>
      </p:sp>
      <p:sp>
        <p:nvSpPr>
          <p:cNvPr id="4" name="Shape 2"/>
          <p:cNvSpPr/>
          <p:nvPr/>
        </p:nvSpPr>
        <p:spPr>
          <a:xfrm>
            <a:off x="457200" y="1463040"/>
            <a:ext cx="1920240" cy="3200400"/>
          </a:xfrm>
          <a:prstGeom prst="rect">
            <a:avLst/>
          </a:prstGeom>
          <a:solidFill>
            <a:srgbClr val="7D4E57"/>
          </a:solidFill>
          <a:ln w="6350">
            <a:solidFill>
              <a:srgbClr val="7A6B6B"/>
            </a:solidFill>
            <a:prstDash val="solid"/>
          </a:ln>
        </p:spPr>
      </p:sp>
      <p:pic>
        <p:nvPicPr>
          <p:cNvPr id="5" name="Image 0" descr="preencoded.png"/>
          <p:cNvPicPr>
            <a:picLocks noChangeAspect="1"/>
          </p:cNvPicPr>
          <p:nvPr/>
        </p:nvPicPr>
        <p:blipFill>
          <a:blip r:embed="rId1"/>
          <a:stretch>
            <a:fillRect/>
          </a:stretch>
        </p:blipFill>
        <p:spPr>
          <a:xfrm>
            <a:off x="1143000" y="1691640"/>
            <a:ext cx="457200" cy="457200"/>
          </a:xfrm>
          <a:prstGeom prst="rect">
            <a:avLst/>
          </a:prstGeom>
        </p:spPr>
      </p:pic>
      <p:sp>
        <p:nvSpPr>
          <p:cNvPr id="6" name="Text 3"/>
          <p:cNvSpPr/>
          <p:nvPr/>
        </p:nvSpPr>
        <p:spPr>
          <a:xfrm>
            <a:off x="548640" y="2286000"/>
            <a:ext cx="1737360" cy="320040"/>
          </a:xfrm>
          <a:prstGeom prst="rect">
            <a:avLst/>
          </a:prstGeom>
          <a:noFill/>
          <a:ln/>
        </p:spPr>
        <p:txBody>
          <a:bodyPr wrap="square" lIns="0" tIns="0" rIns="0" bIns="0" rtlCol="0" anchor="ctr"/>
          <a:lstStyle/>
          <a:p>
            <a:pPr algn="ctr" indent="0" marL="0">
              <a:buNone/>
            </a:pPr>
            <a:r>
              <a:rPr lang="en-US" sz="1600" b="1" dirty="0">
                <a:solidFill>
                  <a:srgbClr val="FDF8F4"/>
                </a:solidFill>
                <a:latin typeface="Georgia" pitchFamily="34" charset="0"/>
                <a:ea typeface="Georgia" pitchFamily="34" charset="-122"/>
                <a:cs typeface="Georgia" pitchFamily="34" charset="-120"/>
              </a:rPr>
              <a:t>Cálida</a:t>
            </a:r>
            <a:endParaRPr lang="en-US" sz="1600" dirty="0"/>
          </a:p>
        </p:txBody>
      </p:sp>
      <p:sp>
        <p:nvSpPr>
          <p:cNvPr id="7" name="Text 4"/>
          <p:cNvSpPr/>
          <p:nvPr/>
        </p:nvSpPr>
        <p:spPr>
          <a:xfrm>
            <a:off x="548640" y="2560320"/>
            <a:ext cx="1737360" cy="228600"/>
          </a:xfrm>
          <a:prstGeom prst="rect">
            <a:avLst/>
          </a:prstGeom>
          <a:noFill/>
          <a:ln/>
        </p:spPr>
        <p:txBody>
          <a:bodyPr wrap="square" lIns="0" tIns="0" rIns="0" bIns="0" rtlCol="0" anchor="ctr"/>
          <a:lstStyle/>
          <a:p>
            <a:pPr algn="ctr" indent="0" marL="0">
              <a:buNone/>
            </a:pPr>
            <a:r>
              <a:rPr lang="en-US" sz="1100" i="1" dirty="0">
                <a:solidFill>
                  <a:srgbClr val="E8D5A8"/>
                </a:solidFill>
                <a:latin typeface="Calibri Light" pitchFamily="34" charset="0"/>
                <a:ea typeface="Calibri Light" pitchFamily="34" charset="-122"/>
                <a:cs typeface="Calibri Light" pitchFamily="34" charset="-120"/>
              </a:rPr>
              <a:t>Warm</a:t>
            </a:r>
            <a:endParaRPr lang="en-US" sz="1100" dirty="0"/>
          </a:p>
        </p:txBody>
      </p:sp>
      <p:sp>
        <p:nvSpPr>
          <p:cNvPr id="8" name="Text 5"/>
          <p:cNvSpPr/>
          <p:nvPr/>
        </p:nvSpPr>
        <p:spPr>
          <a:xfrm>
            <a:off x="640080" y="2926080"/>
            <a:ext cx="1554480" cy="731520"/>
          </a:xfrm>
          <a:prstGeom prst="rect">
            <a:avLst/>
          </a:prstGeom>
          <a:noFill/>
          <a:ln/>
        </p:spPr>
        <p:txBody>
          <a:bodyPr wrap="square" lIns="0" tIns="0" rIns="0" bIns="0" rtlCol="0" anchor="ctr"/>
          <a:lstStyle/>
          <a:p>
            <a:pPr algn="ctr" indent="0" marL="0">
              <a:lnSpc>
                <a:spcPct val="130000"/>
              </a:lnSpc>
              <a:buNone/>
            </a:pPr>
            <a:r>
              <a:rPr lang="en-US" sz="900" dirty="0">
                <a:solidFill>
                  <a:srgbClr val="B5A5A5"/>
                </a:solidFill>
                <a:latin typeface="Calibri" pitchFamily="34" charset="0"/>
                <a:ea typeface="Calibri" pitchFamily="34" charset="-122"/>
                <a:cs typeface="Calibri" pitchFamily="34" charset="-120"/>
              </a:rPr>
              <a:t>Como una amiga que te entiende, no como una marca que te vende.</a:t>
            </a:r>
            <a:endParaRPr lang="en-US" sz="900" dirty="0"/>
          </a:p>
        </p:txBody>
      </p:sp>
      <p:sp>
        <p:nvSpPr>
          <p:cNvPr id="9" name="Text 6"/>
          <p:cNvSpPr/>
          <p:nvPr/>
        </p:nvSpPr>
        <p:spPr>
          <a:xfrm>
            <a:off x="640080" y="3657600"/>
            <a:ext cx="1554480" cy="640080"/>
          </a:xfrm>
          <a:prstGeom prst="rect">
            <a:avLst/>
          </a:prstGeom>
          <a:noFill/>
          <a:ln/>
        </p:spPr>
        <p:txBody>
          <a:bodyPr wrap="square" lIns="0" tIns="0" rIns="0" bIns="0" rtlCol="0" anchor="ctr"/>
          <a:lstStyle/>
          <a:p>
            <a:pPr algn="ctr" indent="0" marL="0">
              <a:lnSpc>
                <a:spcPct val="120000"/>
              </a:lnSpc>
              <a:buNone/>
            </a:pPr>
            <a:r>
              <a:rPr lang="en-US" sz="800" i="1" dirty="0">
                <a:solidFill>
                  <a:srgbClr val="7A6B6B"/>
                </a:solidFill>
                <a:latin typeface="Calibri Light" pitchFamily="34" charset="0"/>
                <a:ea typeface="Calibri Light" pitchFamily="34" charset="-122"/>
                <a:cs typeface="Calibri Light" pitchFamily="34" charset="-120"/>
              </a:rPr>
              <a:t>Like a friend who gets you, not a brand selling to you.</a:t>
            </a:r>
            <a:endParaRPr lang="en-US" sz="800" dirty="0"/>
          </a:p>
        </p:txBody>
      </p:sp>
      <p:sp>
        <p:nvSpPr>
          <p:cNvPr id="10" name="Shape 7"/>
          <p:cNvSpPr/>
          <p:nvPr/>
        </p:nvSpPr>
        <p:spPr>
          <a:xfrm>
            <a:off x="2606040" y="1463040"/>
            <a:ext cx="1920240" cy="3200400"/>
          </a:xfrm>
          <a:prstGeom prst="rect">
            <a:avLst/>
          </a:prstGeom>
          <a:solidFill>
            <a:srgbClr val="7D4E57"/>
          </a:solidFill>
          <a:ln w="6350">
            <a:solidFill>
              <a:srgbClr val="7A6B6B"/>
            </a:solidFill>
            <a:prstDash val="solid"/>
          </a:ln>
        </p:spPr>
      </p:sp>
      <p:pic>
        <p:nvPicPr>
          <p:cNvPr id="11" name="Image 1" descr="preencoded.png"/>
          <p:cNvPicPr>
            <a:picLocks noChangeAspect="1"/>
          </p:cNvPicPr>
          <p:nvPr/>
        </p:nvPicPr>
        <p:blipFill>
          <a:blip r:embed="rId2"/>
          <a:stretch>
            <a:fillRect/>
          </a:stretch>
        </p:blipFill>
        <p:spPr>
          <a:xfrm>
            <a:off x="3291840" y="1691640"/>
            <a:ext cx="457200" cy="457200"/>
          </a:xfrm>
          <a:prstGeom prst="rect">
            <a:avLst/>
          </a:prstGeom>
        </p:spPr>
      </p:pic>
      <p:sp>
        <p:nvSpPr>
          <p:cNvPr id="12" name="Text 8"/>
          <p:cNvSpPr/>
          <p:nvPr/>
        </p:nvSpPr>
        <p:spPr>
          <a:xfrm>
            <a:off x="2697480" y="2286000"/>
            <a:ext cx="1737360" cy="320040"/>
          </a:xfrm>
          <a:prstGeom prst="rect">
            <a:avLst/>
          </a:prstGeom>
          <a:noFill/>
          <a:ln/>
        </p:spPr>
        <p:txBody>
          <a:bodyPr wrap="square" lIns="0" tIns="0" rIns="0" bIns="0" rtlCol="0" anchor="ctr"/>
          <a:lstStyle/>
          <a:p>
            <a:pPr algn="ctr" indent="0" marL="0">
              <a:buNone/>
            </a:pPr>
            <a:r>
              <a:rPr lang="en-US" sz="1600" b="1" dirty="0">
                <a:solidFill>
                  <a:srgbClr val="FDF8F4"/>
                </a:solidFill>
                <a:latin typeface="Georgia" pitchFamily="34" charset="0"/>
                <a:ea typeface="Georgia" pitchFamily="34" charset="-122"/>
                <a:cs typeface="Georgia" pitchFamily="34" charset="-120"/>
              </a:rPr>
              <a:t>Empoderada</a:t>
            </a:r>
            <a:endParaRPr lang="en-US" sz="1600" dirty="0"/>
          </a:p>
        </p:txBody>
      </p:sp>
      <p:sp>
        <p:nvSpPr>
          <p:cNvPr id="13" name="Text 9"/>
          <p:cNvSpPr/>
          <p:nvPr/>
        </p:nvSpPr>
        <p:spPr>
          <a:xfrm>
            <a:off x="2697480" y="2560320"/>
            <a:ext cx="1737360" cy="228600"/>
          </a:xfrm>
          <a:prstGeom prst="rect">
            <a:avLst/>
          </a:prstGeom>
          <a:noFill/>
          <a:ln/>
        </p:spPr>
        <p:txBody>
          <a:bodyPr wrap="square" lIns="0" tIns="0" rIns="0" bIns="0" rtlCol="0" anchor="ctr"/>
          <a:lstStyle/>
          <a:p>
            <a:pPr algn="ctr" indent="0" marL="0">
              <a:buNone/>
            </a:pPr>
            <a:r>
              <a:rPr lang="en-US" sz="1100" i="1" dirty="0">
                <a:solidFill>
                  <a:srgbClr val="E8D5A8"/>
                </a:solidFill>
                <a:latin typeface="Calibri Light" pitchFamily="34" charset="0"/>
                <a:ea typeface="Calibri Light" pitchFamily="34" charset="-122"/>
                <a:cs typeface="Calibri Light" pitchFamily="34" charset="-120"/>
              </a:rPr>
              <a:t>Empowered</a:t>
            </a:r>
            <a:endParaRPr lang="en-US" sz="1100" dirty="0"/>
          </a:p>
        </p:txBody>
      </p:sp>
      <p:sp>
        <p:nvSpPr>
          <p:cNvPr id="14" name="Text 10"/>
          <p:cNvSpPr/>
          <p:nvPr/>
        </p:nvSpPr>
        <p:spPr>
          <a:xfrm>
            <a:off x="2788920" y="2926080"/>
            <a:ext cx="1554480" cy="731520"/>
          </a:xfrm>
          <a:prstGeom prst="rect">
            <a:avLst/>
          </a:prstGeom>
          <a:noFill/>
          <a:ln/>
        </p:spPr>
        <p:txBody>
          <a:bodyPr wrap="square" lIns="0" tIns="0" rIns="0" bIns="0" rtlCol="0" anchor="ctr"/>
          <a:lstStyle/>
          <a:p>
            <a:pPr algn="ctr" indent="0" marL="0">
              <a:lnSpc>
                <a:spcPct val="130000"/>
              </a:lnSpc>
              <a:buNone/>
            </a:pPr>
            <a:r>
              <a:rPr lang="en-US" sz="900" dirty="0">
                <a:solidFill>
                  <a:srgbClr val="B5A5A5"/>
                </a:solidFill>
                <a:latin typeface="Calibri" pitchFamily="34" charset="0"/>
                <a:ea typeface="Calibri" pitchFamily="34" charset="-122"/>
                <a:cs typeface="Calibri" pitchFamily="34" charset="-120"/>
              </a:rPr>
              <a:t>Positiva, orientada a la acción. Sin victimismo, con valentía.</a:t>
            </a:r>
            <a:endParaRPr lang="en-US" sz="900" dirty="0"/>
          </a:p>
        </p:txBody>
      </p:sp>
      <p:sp>
        <p:nvSpPr>
          <p:cNvPr id="15" name="Text 11"/>
          <p:cNvSpPr/>
          <p:nvPr/>
        </p:nvSpPr>
        <p:spPr>
          <a:xfrm>
            <a:off x="2788920" y="3657600"/>
            <a:ext cx="1554480" cy="640080"/>
          </a:xfrm>
          <a:prstGeom prst="rect">
            <a:avLst/>
          </a:prstGeom>
          <a:noFill/>
          <a:ln/>
        </p:spPr>
        <p:txBody>
          <a:bodyPr wrap="square" lIns="0" tIns="0" rIns="0" bIns="0" rtlCol="0" anchor="ctr"/>
          <a:lstStyle/>
          <a:p>
            <a:pPr algn="ctr" indent="0" marL="0">
              <a:lnSpc>
                <a:spcPct val="120000"/>
              </a:lnSpc>
              <a:buNone/>
            </a:pPr>
            <a:r>
              <a:rPr lang="en-US" sz="800" i="1" dirty="0">
                <a:solidFill>
                  <a:srgbClr val="7A6B6B"/>
                </a:solidFill>
                <a:latin typeface="Calibri Light" pitchFamily="34" charset="0"/>
                <a:ea typeface="Calibri Light" pitchFamily="34" charset="-122"/>
                <a:cs typeface="Calibri Light" pitchFamily="34" charset="-120"/>
              </a:rPr>
              <a:t>Positive, action-oriented. No victimhood, all courage.</a:t>
            </a:r>
            <a:endParaRPr lang="en-US" sz="800" dirty="0"/>
          </a:p>
        </p:txBody>
      </p:sp>
      <p:sp>
        <p:nvSpPr>
          <p:cNvPr id="16" name="Shape 12"/>
          <p:cNvSpPr/>
          <p:nvPr/>
        </p:nvSpPr>
        <p:spPr>
          <a:xfrm>
            <a:off x="4754880" y="1463040"/>
            <a:ext cx="1920240" cy="3200400"/>
          </a:xfrm>
          <a:prstGeom prst="rect">
            <a:avLst/>
          </a:prstGeom>
          <a:solidFill>
            <a:srgbClr val="7D4E57"/>
          </a:solidFill>
          <a:ln w="6350">
            <a:solidFill>
              <a:srgbClr val="7A6B6B"/>
            </a:solidFill>
            <a:prstDash val="solid"/>
          </a:ln>
        </p:spPr>
      </p:sp>
      <p:pic>
        <p:nvPicPr>
          <p:cNvPr id="17" name="Image 2" descr="preencoded.png"/>
          <p:cNvPicPr>
            <a:picLocks noChangeAspect="1"/>
          </p:cNvPicPr>
          <p:nvPr/>
        </p:nvPicPr>
        <p:blipFill>
          <a:blip r:embed="rId3"/>
          <a:stretch>
            <a:fillRect/>
          </a:stretch>
        </p:blipFill>
        <p:spPr>
          <a:xfrm>
            <a:off x="5440680" y="1691640"/>
            <a:ext cx="457200" cy="457200"/>
          </a:xfrm>
          <a:prstGeom prst="rect">
            <a:avLst/>
          </a:prstGeom>
        </p:spPr>
      </p:pic>
      <p:sp>
        <p:nvSpPr>
          <p:cNvPr id="18" name="Text 13"/>
          <p:cNvSpPr/>
          <p:nvPr/>
        </p:nvSpPr>
        <p:spPr>
          <a:xfrm>
            <a:off x="4846320" y="2286000"/>
            <a:ext cx="1737360" cy="320040"/>
          </a:xfrm>
          <a:prstGeom prst="rect">
            <a:avLst/>
          </a:prstGeom>
          <a:noFill/>
          <a:ln/>
        </p:spPr>
        <p:txBody>
          <a:bodyPr wrap="square" lIns="0" tIns="0" rIns="0" bIns="0" rtlCol="0" anchor="ctr"/>
          <a:lstStyle/>
          <a:p>
            <a:pPr algn="ctr" indent="0" marL="0">
              <a:buNone/>
            </a:pPr>
            <a:r>
              <a:rPr lang="en-US" sz="1600" b="1" dirty="0">
                <a:solidFill>
                  <a:srgbClr val="FDF8F4"/>
                </a:solidFill>
                <a:latin typeface="Georgia" pitchFamily="34" charset="0"/>
                <a:ea typeface="Georgia" pitchFamily="34" charset="-122"/>
                <a:cs typeface="Georgia" pitchFamily="34" charset="-120"/>
              </a:rPr>
              <a:t>Cercana</a:t>
            </a:r>
            <a:endParaRPr lang="en-US" sz="1600" dirty="0"/>
          </a:p>
        </p:txBody>
      </p:sp>
      <p:sp>
        <p:nvSpPr>
          <p:cNvPr id="19" name="Text 14"/>
          <p:cNvSpPr/>
          <p:nvPr/>
        </p:nvSpPr>
        <p:spPr>
          <a:xfrm>
            <a:off x="4846320" y="2560320"/>
            <a:ext cx="1737360" cy="228600"/>
          </a:xfrm>
          <a:prstGeom prst="rect">
            <a:avLst/>
          </a:prstGeom>
          <a:noFill/>
          <a:ln/>
        </p:spPr>
        <p:txBody>
          <a:bodyPr wrap="square" lIns="0" tIns="0" rIns="0" bIns="0" rtlCol="0" anchor="ctr"/>
          <a:lstStyle/>
          <a:p>
            <a:pPr algn="ctr" indent="0" marL="0">
              <a:buNone/>
            </a:pPr>
            <a:r>
              <a:rPr lang="en-US" sz="1100" i="1" dirty="0">
                <a:solidFill>
                  <a:srgbClr val="E8D5A8"/>
                </a:solidFill>
                <a:latin typeface="Calibri Light" pitchFamily="34" charset="0"/>
                <a:ea typeface="Calibri Light" pitchFamily="34" charset="-122"/>
                <a:cs typeface="Calibri Light" pitchFamily="34" charset="-120"/>
              </a:rPr>
              <a:t>Approachable</a:t>
            </a:r>
            <a:endParaRPr lang="en-US" sz="1100" dirty="0"/>
          </a:p>
        </p:txBody>
      </p:sp>
      <p:sp>
        <p:nvSpPr>
          <p:cNvPr id="20" name="Text 15"/>
          <p:cNvSpPr/>
          <p:nvPr/>
        </p:nvSpPr>
        <p:spPr>
          <a:xfrm>
            <a:off x="4937760" y="2926080"/>
            <a:ext cx="1554480" cy="731520"/>
          </a:xfrm>
          <a:prstGeom prst="rect">
            <a:avLst/>
          </a:prstGeom>
          <a:noFill/>
          <a:ln/>
        </p:spPr>
        <p:txBody>
          <a:bodyPr wrap="square" lIns="0" tIns="0" rIns="0" bIns="0" rtlCol="0" anchor="ctr"/>
          <a:lstStyle/>
          <a:p>
            <a:pPr algn="ctr" indent="0" marL="0">
              <a:lnSpc>
                <a:spcPct val="130000"/>
              </a:lnSpc>
              <a:buNone/>
            </a:pPr>
            <a:r>
              <a:rPr lang="en-US" sz="900" dirty="0">
                <a:solidFill>
                  <a:srgbClr val="B5A5A5"/>
                </a:solidFill>
                <a:latin typeface="Calibri" pitchFamily="34" charset="0"/>
                <a:ea typeface="Calibri" pitchFamily="34" charset="-122"/>
                <a:cs typeface="Calibri" pitchFamily="34" charset="-120"/>
              </a:rPr>
              <a:t>Hablamos como personas reales. Sin jerga corporativa ni frialdad.</a:t>
            </a:r>
            <a:endParaRPr lang="en-US" sz="900" dirty="0"/>
          </a:p>
        </p:txBody>
      </p:sp>
      <p:sp>
        <p:nvSpPr>
          <p:cNvPr id="21" name="Text 16"/>
          <p:cNvSpPr/>
          <p:nvPr/>
        </p:nvSpPr>
        <p:spPr>
          <a:xfrm>
            <a:off x="4937760" y="3657600"/>
            <a:ext cx="1554480" cy="640080"/>
          </a:xfrm>
          <a:prstGeom prst="rect">
            <a:avLst/>
          </a:prstGeom>
          <a:noFill/>
          <a:ln/>
        </p:spPr>
        <p:txBody>
          <a:bodyPr wrap="square" lIns="0" tIns="0" rIns="0" bIns="0" rtlCol="0" anchor="ctr"/>
          <a:lstStyle/>
          <a:p>
            <a:pPr algn="ctr" indent="0" marL="0">
              <a:lnSpc>
                <a:spcPct val="120000"/>
              </a:lnSpc>
              <a:buNone/>
            </a:pPr>
            <a:r>
              <a:rPr lang="en-US" sz="800" i="1" dirty="0">
                <a:solidFill>
                  <a:srgbClr val="7A6B6B"/>
                </a:solidFill>
                <a:latin typeface="Calibri Light" pitchFamily="34" charset="0"/>
                <a:ea typeface="Calibri Light" pitchFamily="34" charset="-122"/>
                <a:cs typeface="Calibri Light" pitchFamily="34" charset="-120"/>
              </a:rPr>
              <a:t>We speak like real people. No corporate jargon.</a:t>
            </a:r>
            <a:endParaRPr lang="en-US" sz="800" dirty="0"/>
          </a:p>
        </p:txBody>
      </p:sp>
      <p:sp>
        <p:nvSpPr>
          <p:cNvPr id="22" name="Shape 17"/>
          <p:cNvSpPr/>
          <p:nvPr/>
        </p:nvSpPr>
        <p:spPr>
          <a:xfrm>
            <a:off x="6903720" y="1463040"/>
            <a:ext cx="1920240" cy="3200400"/>
          </a:xfrm>
          <a:prstGeom prst="rect">
            <a:avLst/>
          </a:prstGeom>
          <a:solidFill>
            <a:srgbClr val="7D4E57"/>
          </a:solidFill>
          <a:ln w="6350">
            <a:solidFill>
              <a:srgbClr val="7A6B6B"/>
            </a:solidFill>
            <a:prstDash val="solid"/>
          </a:ln>
        </p:spPr>
      </p:sp>
      <p:pic>
        <p:nvPicPr>
          <p:cNvPr id="23" name="Image 3" descr="preencoded.png"/>
          <p:cNvPicPr>
            <a:picLocks noChangeAspect="1"/>
          </p:cNvPicPr>
          <p:nvPr/>
        </p:nvPicPr>
        <p:blipFill>
          <a:blip r:embed="rId4"/>
          <a:stretch>
            <a:fillRect/>
          </a:stretch>
        </p:blipFill>
        <p:spPr>
          <a:xfrm>
            <a:off x="7589520" y="1691640"/>
            <a:ext cx="457200" cy="457200"/>
          </a:xfrm>
          <a:prstGeom prst="rect">
            <a:avLst/>
          </a:prstGeom>
        </p:spPr>
      </p:pic>
      <p:sp>
        <p:nvSpPr>
          <p:cNvPr id="24" name="Text 18"/>
          <p:cNvSpPr/>
          <p:nvPr/>
        </p:nvSpPr>
        <p:spPr>
          <a:xfrm>
            <a:off x="6995160" y="2286000"/>
            <a:ext cx="1737360" cy="320040"/>
          </a:xfrm>
          <a:prstGeom prst="rect">
            <a:avLst/>
          </a:prstGeom>
          <a:noFill/>
          <a:ln/>
        </p:spPr>
        <p:txBody>
          <a:bodyPr wrap="square" lIns="0" tIns="0" rIns="0" bIns="0" rtlCol="0" anchor="ctr"/>
          <a:lstStyle/>
          <a:p>
            <a:pPr algn="ctr" indent="0" marL="0">
              <a:buNone/>
            </a:pPr>
            <a:r>
              <a:rPr lang="en-US" sz="1600" b="1" dirty="0">
                <a:solidFill>
                  <a:srgbClr val="FDF8F4"/>
                </a:solidFill>
                <a:latin typeface="Georgia" pitchFamily="34" charset="0"/>
                <a:ea typeface="Georgia" pitchFamily="34" charset="-122"/>
                <a:cs typeface="Georgia" pitchFamily="34" charset="-120"/>
              </a:rPr>
              <a:t>Segura</a:t>
            </a:r>
            <a:endParaRPr lang="en-US" sz="1600" dirty="0"/>
          </a:p>
        </p:txBody>
      </p:sp>
      <p:sp>
        <p:nvSpPr>
          <p:cNvPr id="25" name="Text 19"/>
          <p:cNvSpPr/>
          <p:nvPr/>
        </p:nvSpPr>
        <p:spPr>
          <a:xfrm>
            <a:off x="6995160" y="2560320"/>
            <a:ext cx="1737360" cy="228600"/>
          </a:xfrm>
          <a:prstGeom prst="rect">
            <a:avLst/>
          </a:prstGeom>
          <a:noFill/>
          <a:ln/>
        </p:spPr>
        <p:txBody>
          <a:bodyPr wrap="square" lIns="0" tIns="0" rIns="0" bIns="0" rtlCol="0" anchor="ctr"/>
          <a:lstStyle/>
          <a:p>
            <a:pPr algn="ctr" indent="0" marL="0">
              <a:buNone/>
            </a:pPr>
            <a:r>
              <a:rPr lang="en-US" sz="1100" i="1" dirty="0">
                <a:solidFill>
                  <a:srgbClr val="E8D5A8"/>
                </a:solidFill>
                <a:latin typeface="Calibri Light" pitchFamily="34" charset="0"/>
                <a:ea typeface="Calibri Light" pitchFamily="34" charset="-122"/>
                <a:cs typeface="Calibri Light" pitchFamily="34" charset="-120"/>
              </a:rPr>
              <a:t>Safe</a:t>
            </a:r>
            <a:endParaRPr lang="en-US" sz="1100" dirty="0"/>
          </a:p>
        </p:txBody>
      </p:sp>
      <p:sp>
        <p:nvSpPr>
          <p:cNvPr id="26" name="Text 20"/>
          <p:cNvSpPr/>
          <p:nvPr/>
        </p:nvSpPr>
        <p:spPr>
          <a:xfrm>
            <a:off x="7086600" y="2926080"/>
            <a:ext cx="1554480" cy="731520"/>
          </a:xfrm>
          <a:prstGeom prst="rect">
            <a:avLst/>
          </a:prstGeom>
          <a:noFill/>
          <a:ln/>
        </p:spPr>
        <p:txBody>
          <a:bodyPr wrap="square" lIns="0" tIns="0" rIns="0" bIns="0" rtlCol="0" anchor="ctr"/>
          <a:lstStyle/>
          <a:p>
            <a:pPr algn="ctr" indent="0" marL="0">
              <a:lnSpc>
                <a:spcPct val="130000"/>
              </a:lnSpc>
              <a:buNone/>
            </a:pPr>
            <a:r>
              <a:rPr lang="en-US" sz="900" dirty="0">
                <a:solidFill>
                  <a:srgbClr val="B5A5A5"/>
                </a:solidFill>
                <a:latin typeface="Calibri" pitchFamily="34" charset="0"/>
                <a:ea typeface="Calibri" pitchFamily="34" charset="-122"/>
                <a:cs typeface="Calibri" pitchFamily="34" charset="-120"/>
              </a:rPr>
              <a:t>Un espacio donde ser vulnerable es fuerza, no debilidad.</a:t>
            </a:r>
            <a:endParaRPr lang="en-US" sz="900" dirty="0"/>
          </a:p>
        </p:txBody>
      </p:sp>
      <p:sp>
        <p:nvSpPr>
          <p:cNvPr id="27" name="Text 21"/>
          <p:cNvSpPr/>
          <p:nvPr/>
        </p:nvSpPr>
        <p:spPr>
          <a:xfrm>
            <a:off x="7086600" y="3657600"/>
            <a:ext cx="1554480" cy="640080"/>
          </a:xfrm>
          <a:prstGeom prst="rect">
            <a:avLst/>
          </a:prstGeom>
          <a:noFill/>
          <a:ln/>
        </p:spPr>
        <p:txBody>
          <a:bodyPr wrap="square" lIns="0" tIns="0" rIns="0" bIns="0" rtlCol="0" anchor="ctr"/>
          <a:lstStyle/>
          <a:p>
            <a:pPr algn="ctr" indent="0" marL="0">
              <a:lnSpc>
                <a:spcPct val="120000"/>
              </a:lnSpc>
              <a:buNone/>
            </a:pPr>
            <a:r>
              <a:rPr lang="en-US" sz="800" i="1" dirty="0">
                <a:solidFill>
                  <a:srgbClr val="7A6B6B"/>
                </a:solidFill>
                <a:latin typeface="Calibri Light" pitchFamily="34" charset="0"/>
                <a:ea typeface="Calibri Light" pitchFamily="34" charset="-122"/>
                <a:cs typeface="Calibri Light" pitchFamily="34" charset="-120"/>
              </a:rPr>
              <a:t>A space where vulnerability is strength.</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8F4"/>
        </a:solidFill>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indent="0" marL="0">
              <a:buNone/>
            </a:pPr>
            <a:r>
              <a:rPr lang="en-US" sz="1400" dirty="0">
                <a:solidFill>
                  <a:srgbClr val="C9A96E"/>
                </a:solidFill>
                <a:latin typeface="Georgia" pitchFamily="34" charset="0"/>
                <a:ea typeface="Georgia" pitchFamily="34" charset="-122"/>
                <a:cs typeface="Georgia" pitchFamily="34" charset="-120"/>
              </a:rPr>
              <a:t>08</a:t>
            </a:r>
            <a:endParaRPr lang="en-US" sz="1400" dirty="0"/>
          </a:p>
        </p:txBody>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2800" b="1" dirty="0">
                <a:solidFill>
                  <a:srgbClr val="4A3035"/>
                </a:solidFill>
                <a:latin typeface="Georgia" pitchFamily="34" charset="0"/>
                <a:ea typeface="Georgia" pitchFamily="34" charset="-122"/>
                <a:cs typeface="Georgia" pitchFamily="34" charset="-120"/>
              </a:rPr>
              <a:t>Valores de Marca / Brand Values</a:t>
            </a:r>
            <a:endParaRPr lang="en-US" sz="2800" dirty="0"/>
          </a:p>
        </p:txBody>
      </p:sp>
      <p:sp>
        <p:nvSpPr>
          <p:cNvPr id="4" name="Shape 2"/>
          <p:cNvSpPr/>
          <p:nvPr/>
        </p:nvSpPr>
        <p:spPr>
          <a:xfrm>
            <a:off x="731520" y="1280160"/>
            <a:ext cx="1828800" cy="36576"/>
          </a:xfrm>
          <a:prstGeom prst="rect">
            <a:avLst/>
          </a:prstGeom>
          <a:solidFill>
            <a:srgbClr val="C9A96E"/>
          </a:solidFill>
          <a:ln/>
        </p:spPr>
      </p:sp>
      <p:sp>
        <p:nvSpPr>
          <p:cNvPr id="5" name="Shape 3"/>
          <p:cNvSpPr/>
          <p:nvPr/>
        </p:nvSpPr>
        <p:spPr>
          <a:xfrm>
            <a:off x="731520" y="1554480"/>
            <a:ext cx="3657600" cy="132588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6" name="Image 0" descr="preencoded.png"/>
          <p:cNvPicPr>
            <a:picLocks noChangeAspect="1"/>
          </p:cNvPicPr>
          <p:nvPr/>
        </p:nvPicPr>
        <p:blipFill>
          <a:blip r:embed="rId1"/>
          <a:stretch>
            <a:fillRect/>
          </a:stretch>
        </p:blipFill>
        <p:spPr>
          <a:xfrm>
            <a:off x="960120" y="1783080"/>
            <a:ext cx="411480" cy="411480"/>
          </a:xfrm>
          <a:prstGeom prst="rect">
            <a:avLst/>
          </a:prstGeom>
        </p:spPr>
      </p:pic>
      <p:sp>
        <p:nvSpPr>
          <p:cNvPr id="7" name="Text 4"/>
          <p:cNvSpPr/>
          <p:nvPr/>
        </p:nvSpPr>
        <p:spPr>
          <a:xfrm>
            <a:off x="1554480" y="1691640"/>
            <a:ext cx="2560320" cy="274320"/>
          </a:xfrm>
          <a:prstGeom prst="rect">
            <a:avLst/>
          </a:prstGeom>
          <a:noFill/>
          <a:ln/>
        </p:spPr>
        <p:txBody>
          <a:bodyPr wrap="square" lIns="0" tIns="0" rIns="0" bIns="0" rtlCol="0" anchor="ctr"/>
          <a:lstStyle/>
          <a:p>
            <a:pPr indent="0" marL="0">
              <a:buNone/>
            </a:pPr>
            <a:r>
              <a:rPr lang="en-US" sz="1400" b="1" dirty="0">
                <a:solidFill>
                  <a:srgbClr val="4A3035"/>
                </a:solidFill>
                <a:latin typeface="Georgia" pitchFamily="34" charset="0"/>
                <a:ea typeface="Georgia" pitchFamily="34" charset="-122"/>
                <a:cs typeface="Georgia" pitchFamily="34" charset="-120"/>
              </a:rPr>
              <a:t>Comunidad</a:t>
            </a:r>
            <a:endParaRPr lang="en-US" sz="1400" dirty="0"/>
          </a:p>
        </p:txBody>
      </p:sp>
      <p:sp>
        <p:nvSpPr>
          <p:cNvPr id="8" name="Text 5"/>
          <p:cNvSpPr/>
          <p:nvPr/>
        </p:nvSpPr>
        <p:spPr>
          <a:xfrm>
            <a:off x="1554480" y="1938528"/>
            <a:ext cx="2560320" cy="182880"/>
          </a:xfrm>
          <a:prstGeom prst="rect">
            <a:avLst/>
          </a:prstGeom>
          <a:noFill/>
          <a:ln/>
        </p:spPr>
        <p:txBody>
          <a:bodyPr wrap="square" lIns="0" tIns="0" rIns="0" bIns="0" rtlCol="0" anchor="ctr"/>
          <a:lstStyle/>
          <a:p>
            <a:pPr indent="0" marL="0">
              <a:buNone/>
            </a:pPr>
            <a:r>
              <a:rPr lang="en-US" sz="1000" i="1" dirty="0">
                <a:solidFill>
                  <a:srgbClr val="C9A96E"/>
                </a:solidFill>
                <a:latin typeface="Calibri Light" pitchFamily="34" charset="0"/>
                <a:ea typeface="Calibri Light" pitchFamily="34" charset="-122"/>
                <a:cs typeface="Calibri Light" pitchFamily="34" charset="-120"/>
              </a:rPr>
              <a:t>Community</a:t>
            </a:r>
            <a:endParaRPr lang="en-US" sz="1000" dirty="0"/>
          </a:p>
        </p:txBody>
      </p:sp>
      <p:sp>
        <p:nvSpPr>
          <p:cNvPr id="9" name="Text 6"/>
          <p:cNvSpPr/>
          <p:nvPr/>
        </p:nvSpPr>
        <p:spPr>
          <a:xfrm>
            <a:off x="960120" y="2240280"/>
            <a:ext cx="3200400" cy="274320"/>
          </a:xfrm>
          <a:prstGeom prst="rect">
            <a:avLst/>
          </a:prstGeom>
          <a:noFill/>
          <a:ln/>
        </p:spPr>
        <p:txBody>
          <a:bodyPr wrap="square" lIns="0" tIns="0" rIns="0" bIns="0" rtlCol="0" anchor="ctr"/>
          <a:lstStyle/>
          <a:p>
            <a:pPr indent="0" marL="0">
              <a:buNone/>
            </a:pPr>
            <a:r>
              <a:rPr lang="en-US" sz="1000" dirty="0">
                <a:solidFill>
                  <a:srgbClr val="7A6B6B"/>
                </a:solidFill>
                <a:latin typeface="Calibri" pitchFamily="34" charset="0"/>
                <a:ea typeface="Calibri" pitchFamily="34" charset="-122"/>
                <a:cs typeface="Calibri" pitchFamily="34" charset="-120"/>
              </a:rPr>
              <a:t>Somos más fuertes juntas. Ubuntu: soy porque somos.</a:t>
            </a:r>
            <a:endParaRPr lang="en-US" sz="1000" dirty="0"/>
          </a:p>
        </p:txBody>
      </p:sp>
      <p:sp>
        <p:nvSpPr>
          <p:cNvPr id="10" name="Text 7"/>
          <p:cNvSpPr/>
          <p:nvPr/>
        </p:nvSpPr>
        <p:spPr>
          <a:xfrm>
            <a:off x="960120" y="2468880"/>
            <a:ext cx="3200400" cy="274320"/>
          </a:xfrm>
          <a:prstGeom prst="rect">
            <a:avLst/>
          </a:prstGeom>
          <a:noFill/>
          <a:ln/>
        </p:spPr>
        <p:txBody>
          <a:bodyPr wrap="square" lIns="0" tIns="0" rIns="0" bIns="0" rtlCol="0" anchor="ctr"/>
          <a:lstStyle/>
          <a:p>
            <a:pPr indent="0" marL="0">
              <a:buNone/>
            </a:pPr>
            <a:r>
              <a:rPr lang="en-US" sz="900" i="1" dirty="0">
                <a:solidFill>
                  <a:srgbClr val="B5A5A5"/>
                </a:solidFill>
                <a:latin typeface="Calibri Light" pitchFamily="34" charset="0"/>
                <a:ea typeface="Calibri Light" pitchFamily="34" charset="-122"/>
                <a:cs typeface="Calibri Light" pitchFamily="34" charset="-120"/>
              </a:rPr>
              <a:t>We are stronger together. Ubuntu: I am because we are.</a:t>
            </a:r>
            <a:endParaRPr lang="en-US" sz="900" dirty="0"/>
          </a:p>
        </p:txBody>
      </p:sp>
      <p:sp>
        <p:nvSpPr>
          <p:cNvPr id="11" name="Shape 8"/>
          <p:cNvSpPr/>
          <p:nvPr/>
        </p:nvSpPr>
        <p:spPr>
          <a:xfrm>
            <a:off x="4754880" y="1554480"/>
            <a:ext cx="3657600" cy="132588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2" name="Image 1" descr="preencoded.png"/>
          <p:cNvPicPr>
            <a:picLocks noChangeAspect="1"/>
          </p:cNvPicPr>
          <p:nvPr/>
        </p:nvPicPr>
        <p:blipFill>
          <a:blip r:embed="rId2"/>
          <a:stretch>
            <a:fillRect/>
          </a:stretch>
        </p:blipFill>
        <p:spPr>
          <a:xfrm>
            <a:off x="4983480" y="1783080"/>
            <a:ext cx="411480" cy="411480"/>
          </a:xfrm>
          <a:prstGeom prst="rect">
            <a:avLst/>
          </a:prstGeom>
        </p:spPr>
      </p:pic>
      <p:sp>
        <p:nvSpPr>
          <p:cNvPr id="13" name="Text 9"/>
          <p:cNvSpPr/>
          <p:nvPr/>
        </p:nvSpPr>
        <p:spPr>
          <a:xfrm>
            <a:off x="5577840" y="1691640"/>
            <a:ext cx="2560320" cy="274320"/>
          </a:xfrm>
          <a:prstGeom prst="rect">
            <a:avLst/>
          </a:prstGeom>
          <a:noFill/>
          <a:ln/>
        </p:spPr>
        <p:txBody>
          <a:bodyPr wrap="square" lIns="0" tIns="0" rIns="0" bIns="0" rtlCol="0" anchor="ctr"/>
          <a:lstStyle/>
          <a:p>
            <a:pPr indent="0" marL="0">
              <a:buNone/>
            </a:pPr>
            <a:r>
              <a:rPr lang="en-US" sz="1400" b="1" dirty="0">
                <a:solidFill>
                  <a:srgbClr val="4A3035"/>
                </a:solidFill>
                <a:latin typeface="Georgia" pitchFamily="34" charset="0"/>
                <a:ea typeface="Georgia" pitchFamily="34" charset="-122"/>
                <a:cs typeface="Georgia" pitchFamily="34" charset="-120"/>
              </a:rPr>
              <a:t>Empoderamiento</a:t>
            </a:r>
            <a:endParaRPr lang="en-US" sz="1400" dirty="0"/>
          </a:p>
        </p:txBody>
      </p:sp>
      <p:sp>
        <p:nvSpPr>
          <p:cNvPr id="14" name="Text 10"/>
          <p:cNvSpPr/>
          <p:nvPr/>
        </p:nvSpPr>
        <p:spPr>
          <a:xfrm>
            <a:off x="5577840" y="1938528"/>
            <a:ext cx="2560320" cy="182880"/>
          </a:xfrm>
          <a:prstGeom prst="rect">
            <a:avLst/>
          </a:prstGeom>
          <a:noFill/>
          <a:ln/>
        </p:spPr>
        <p:txBody>
          <a:bodyPr wrap="square" lIns="0" tIns="0" rIns="0" bIns="0" rtlCol="0" anchor="ctr"/>
          <a:lstStyle/>
          <a:p>
            <a:pPr indent="0" marL="0">
              <a:buNone/>
            </a:pPr>
            <a:r>
              <a:rPr lang="en-US" sz="1000" i="1" dirty="0">
                <a:solidFill>
                  <a:srgbClr val="C9A96E"/>
                </a:solidFill>
                <a:latin typeface="Calibri Light" pitchFamily="34" charset="0"/>
                <a:ea typeface="Calibri Light" pitchFamily="34" charset="-122"/>
                <a:cs typeface="Calibri Light" pitchFamily="34" charset="-120"/>
              </a:rPr>
              <a:t>Empowerment</a:t>
            </a:r>
            <a:endParaRPr lang="en-US" sz="1000" dirty="0"/>
          </a:p>
        </p:txBody>
      </p:sp>
      <p:sp>
        <p:nvSpPr>
          <p:cNvPr id="15" name="Text 11"/>
          <p:cNvSpPr/>
          <p:nvPr/>
        </p:nvSpPr>
        <p:spPr>
          <a:xfrm>
            <a:off x="4983480" y="2240280"/>
            <a:ext cx="3200400" cy="274320"/>
          </a:xfrm>
          <a:prstGeom prst="rect">
            <a:avLst/>
          </a:prstGeom>
          <a:noFill/>
          <a:ln/>
        </p:spPr>
        <p:txBody>
          <a:bodyPr wrap="square" lIns="0" tIns="0" rIns="0" bIns="0" rtlCol="0" anchor="ctr"/>
          <a:lstStyle/>
          <a:p>
            <a:pPr indent="0" marL="0">
              <a:buNone/>
            </a:pPr>
            <a:r>
              <a:rPr lang="en-US" sz="1000" dirty="0">
                <a:solidFill>
                  <a:srgbClr val="7A6B6B"/>
                </a:solidFill>
                <a:latin typeface="Calibri" pitchFamily="34" charset="0"/>
                <a:ea typeface="Calibri" pitchFamily="34" charset="-122"/>
                <a:cs typeface="Calibri" pitchFamily="34" charset="-120"/>
              </a:rPr>
              <a:t>Cada mujer tiene el poder de transformar su vida.</a:t>
            </a:r>
            <a:endParaRPr lang="en-US" sz="1000" dirty="0"/>
          </a:p>
        </p:txBody>
      </p:sp>
      <p:sp>
        <p:nvSpPr>
          <p:cNvPr id="16" name="Text 12"/>
          <p:cNvSpPr/>
          <p:nvPr/>
        </p:nvSpPr>
        <p:spPr>
          <a:xfrm>
            <a:off x="4983480" y="2468880"/>
            <a:ext cx="3200400" cy="274320"/>
          </a:xfrm>
          <a:prstGeom prst="rect">
            <a:avLst/>
          </a:prstGeom>
          <a:noFill/>
          <a:ln/>
        </p:spPr>
        <p:txBody>
          <a:bodyPr wrap="square" lIns="0" tIns="0" rIns="0" bIns="0" rtlCol="0" anchor="ctr"/>
          <a:lstStyle/>
          <a:p>
            <a:pPr indent="0" marL="0">
              <a:buNone/>
            </a:pPr>
            <a:r>
              <a:rPr lang="en-US" sz="900" i="1" dirty="0">
                <a:solidFill>
                  <a:srgbClr val="B5A5A5"/>
                </a:solidFill>
                <a:latin typeface="Calibri Light" pitchFamily="34" charset="0"/>
                <a:ea typeface="Calibri Light" pitchFamily="34" charset="-122"/>
                <a:cs typeface="Calibri Light" pitchFamily="34" charset="-120"/>
              </a:rPr>
              <a:t>Every woman has the power to transform her life.</a:t>
            </a:r>
            <a:endParaRPr lang="en-US" sz="900" dirty="0"/>
          </a:p>
        </p:txBody>
      </p:sp>
      <p:sp>
        <p:nvSpPr>
          <p:cNvPr id="17" name="Shape 13"/>
          <p:cNvSpPr/>
          <p:nvPr/>
        </p:nvSpPr>
        <p:spPr>
          <a:xfrm>
            <a:off x="731520" y="3108960"/>
            <a:ext cx="3657600" cy="132588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8" name="Image 2" descr="preencoded.png"/>
          <p:cNvPicPr>
            <a:picLocks noChangeAspect="1"/>
          </p:cNvPicPr>
          <p:nvPr/>
        </p:nvPicPr>
        <p:blipFill>
          <a:blip r:embed="rId3"/>
          <a:stretch>
            <a:fillRect/>
          </a:stretch>
        </p:blipFill>
        <p:spPr>
          <a:xfrm>
            <a:off x="960120" y="3337560"/>
            <a:ext cx="411480" cy="411480"/>
          </a:xfrm>
          <a:prstGeom prst="rect">
            <a:avLst/>
          </a:prstGeom>
        </p:spPr>
      </p:pic>
      <p:sp>
        <p:nvSpPr>
          <p:cNvPr id="19" name="Text 14"/>
          <p:cNvSpPr/>
          <p:nvPr/>
        </p:nvSpPr>
        <p:spPr>
          <a:xfrm>
            <a:off x="1554480" y="3246120"/>
            <a:ext cx="2560320" cy="274320"/>
          </a:xfrm>
          <a:prstGeom prst="rect">
            <a:avLst/>
          </a:prstGeom>
          <a:noFill/>
          <a:ln/>
        </p:spPr>
        <p:txBody>
          <a:bodyPr wrap="square" lIns="0" tIns="0" rIns="0" bIns="0" rtlCol="0" anchor="ctr"/>
          <a:lstStyle/>
          <a:p>
            <a:pPr indent="0" marL="0">
              <a:buNone/>
            </a:pPr>
            <a:r>
              <a:rPr lang="en-US" sz="1400" b="1" dirty="0">
                <a:solidFill>
                  <a:srgbClr val="4A3035"/>
                </a:solidFill>
                <a:latin typeface="Georgia" pitchFamily="34" charset="0"/>
                <a:ea typeface="Georgia" pitchFamily="34" charset="-122"/>
                <a:cs typeface="Georgia" pitchFamily="34" charset="-120"/>
              </a:rPr>
              <a:t>Autenticidad</a:t>
            </a:r>
            <a:endParaRPr lang="en-US" sz="1400" dirty="0"/>
          </a:p>
        </p:txBody>
      </p:sp>
      <p:sp>
        <p:nvSpPr>
          <p:cNvPr id="20" name="Text 15"/>
          <p:cNvSpPr/>
          <p:nvPr/>
        </p:nvSpPr>
        <p:spPr>
          <a:xfrm>
            <a:off x="1554480" y="3493008"/>
            <a:ext cx="2560320" cy="182880"/>
          </a:xfrm>
          <a:prstGeom prst="rect">
            <a:avLst/>
          </a:prstGeom>
          <a:noFill/>
          <a:ln/>
        </p:spPr>
        <p:txBody>
          <a:bodyPr wrap="square" lIns="0" tIns="0" rIns="0" bIns="0" rtlCol="0" anchor="ctr"/>
          <a:lstStyle/>
          <a:p>
            <a:pPr indent="0" marL="0">
              <a:buNone/>
            </a:pPr>
            <a:r>
              <a:rPr lang="en-US" sz="1000" i="1" dirty="0">
                <a:solidFill>
                  <a:srgbClr val="C9A96E"/>
                </a:solidFill>
                <a:latin typeface="Calibri Light" pitchFamily="34" charset="0"/>
                <a:ea typeface="Calibri Light" pitchFamily="34" charset="-122"/>
                <a:cs typeface="Calibri Light" pitchFamily="34" charset="-120"/>
              </a:rPr>
              <a:t>Authenticity</a:t>
            </a:r>
            <a:endParaRPr lang="en-US" sz="1000" dirty="0"/>
          </a:p>
        </p:txBody>
      </p:sp>
      <p:sp>
        <p:nvSpPr>
          <p:cNvPr id="21" name="Text 16"/>
          <p:cNvSpPr/>
          <p:nvPr/>
        </p:nvSpPr>
        <p:spPr>
          <a:xfrm>
            <a:off x="960120" y="3794760"/>
            <a:ext cx="3200400" cy="274320"/>
          </a:xfrm>
          <a:prstGeom prst="rect">
            <a:avLst/>
          </a:prstGeom>
          <a:noFill/>
          <a:ln/>
        </p:spPr>
        <p:txBody>
          <a:bodyPr wrap="square" lIns="0" tIns="0" rIns="0" bIns="0" rtlCol="0" anchor="ctr"/>
          <a:lstStyle/>
          <a:p>
            <a:pPr indent="0" marL="0">
              <a:buNone/>
            </a:pPr>
            <a:r>
              <a:rPr lang="en-US" sz="1000" dirty="0">
                <a:solidFill>
                  <a:srgbClr val="7A6B6B"/>
                </a:solidFill>
                <a:latin typeface="Calibri" pitchFamily="34" charset="0"/>
                <a:ea typeface="Calibri" pitchFamily="34" charset="-122"/>
                <a:cs typeface="Calibri" pitchFamily="34" charset="-120"/>
              </a:rPr>
              <a:t>Sin máscaras. Real, vulnerable, valiente.</a:t>
            </a:r>
            <a:endParaRPr lang="en-US" sz="1000" dirty="0"/>
          </a:p>
        </p:txBody>
      </p:sp>
      <p:sp>
        <p:nvSpPr>
          <p:cNvPr id="22" name="Text 17"/>
          <p:cNvSpPr/>
          <p:nvPr/>
        </p:nvSpPr>
        <p:spPr>
          <a:xfrm>
            <a:off x="960120" y="4023360"/>
            <a:ext cx="3200400" cy="274320"/>
          </a:xfrm>
          <a:prstGeom prst="rect">
            <a:avLst/>
          </a:prstGeom>
          <a:noFill/>
          <a:ln/>
        </p:spPr>
        <p:txBody>
          <a:bodyPr wrap="square" lIns="0" tIns="0" rIns="0" bIns="0" rtlCol="0" anchor="ctr"/>
          <a:lstStyle/>
          <a:p>
            <a:pPr indent="0" marL="0">
              <a:buNone/>
            </a:pPr>
            <a:r>
              <a:rPr lang="en-US" sz="900" i="1" dirty="0">
                <a:solidFill>
                  <a:srgbClr val="B5A5A5"/>
                </a:solidFill>
                <a:latin typeface="Calibri Light" pitchFamily="34" charset="0"/>
                <a:ea typeface="Calibri Light" pitchFamily="34" charset="-122"/>
                <a:cs typeface="Calibri Light" pitchFamily="34" charset="-120"/>
              </a:rPr>
              <a:t>No masks. Real, vulnerable, brave.</a:t>
            </a:r>
            <a:endParaRPr lang="en-US" sz="900" dirty="0"/>
          </a:p>
        </p:txBody>
      </p:sp>
      <p:sp>
        <p:nvSpPr>
          <p:cNvPr id="23" name="Shape 18"/>
          <p:cNvSpPr/>
          <p:nvPr/>
        </p:nvSpPr>
        <p:spPr>
          <a:xfrm>
            <a:off x="4754880" y="3108960"/>
            <a:ext cx="3657600" cy="132588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24" name="Image 3" descr="preencoded.png"/>
          <p:cNvPicPr>
            <a:picLocks noChangeAspect="1"/>
          </p:cNvPicPr>
          <p:nvPr/>
        </p:nvPicPr>
        <p:blipFill>
          <a:blip r:embed="rId4"/>
          <a:stretch>
            <a:fillRect/>
          </a:stretch>
        </p:blipFill>
        <p:spPr>
          <a:xfrm>
            <a:off x="4983480" y="3337560"/>
            <a:ext cx="411480" cy="411480"/>
          </a:xfrm>
          <a:prstGeom prst="rect">
            <a:avLst/>
          </a:prstGeom>
        </p:spPr>
      </p:pic>
      <p:sp>
        <p:nvSpPr>
          <p:cNvPr id="25" name="Text 19"/>
          <p:cNvSpPr/>
          <p:nvPr/>
        </p:nvSpPr>
        <p:spPr>
          <a:xfrm>
            <a:off x="5577840" y="3246120"/>
            <a:ext cx="2560320" cy="274320"/>
          </a:xfrm>
          <a:prstGeom prst="rect">
            <a:avLst/>
          </a:prstGeom>
          <a:noFill/>
          <a:ln/>
        </p:spPr>
        <p:txBody>
          <a:bodyPr wrap="square" lIns="0" tIns="0" rIns="0" bIns="0" rtlCol="0" anchor="ctr"/>
          <a:lstStyle/>
          <a:p>
            <a:pPr indent="0" marL="0">
              <a:buNone/>
            </a:pPr>
            <a:r>
              <a:rPr lang="en-US" sz="1400" b="1" dirty="0">
                <a:solidFill>
                  <a:srgbClr val="4A3035"/>
                </a:solidFill>
                <a:latin typeface="Georgia" pitchFamily="34" charset="0"/>
                <a:ea typeface="Georgia" pitchFamily="34" charset="-122"/>
                <a:cs typeface="Georgia" pitchFamily="34" charset="-120"/>
              </a:rPr>
              <a:t>Conexión</a:t>
            </a:r>
            <a:endParaRPr lang="en-US" sz="1400" dirty="0"/>
          </a:p>
        </p:txBody>
      </p:sp>
      <p:sp>
        <p:nvSpPr>
          <p:cNvPr id="26" name="Text 20"/>
          <p:cNvSpPr/>
          <p:nvPr/>
        </p:nvSpPr>
        <p:spPr>
          <a:xfrm>
            <a:off x="5577840" y="3493008"/>
            <a:ext cx="2560320" cy="182880"/>
          </a:xfrm>
          <a:prstGeom prst="rect">
            <a:avLst/>
          </a:prstGeom>
          <a:noFill/>
          <a:ln/>
        </p:spPr>
        <p:txBody>
          <a:bodyPr wrap="square" lIns="0" tIns="0" rIns="0" bIns="0" rtlCol="0" anchor="ctr"/>
          <a:lstStyle/>
          <a:p>
            <a:pPr indent="0" marL="0">
              <a:buNone/>
            </a:pPr>
            <a:r>
              <a:rPr lang="en-US" sz="1000" i="1" dirty="0">
                <a:solidFill>
                  <a:srgbClr val="C9A96E"/>
                </a:solidFill>
                <a:latin typeface="Calibri Light" pitchFamily="34" charset="0"/>
                <a:ea typeface="Calibri Light" pitchFamily="34" charset="-122"/>
                <a:cs typeface="Calibri Light" pitchFamily="34" charset="-120"/>
              </a:rPr>
              <a:t>Connection</a:t>
            </a:r>
            <a:endParaRPr lang="en-US" sz="1000" dirty="0"/>
          </a:p>
        </p:txBody>
      </p:sp>
      <p:sp>
        <p:nvSpPr>
          <p:cNvPr id="27" name="Text 21"/>
          <p:cNvSpPr/>
          <p:nvPr/>
        </p:nvSpPr>
        <p:spPr>
          <a:xfrm>
            <a:off x="4983480" y="3794760"/>
            <a:ext cx="3200400" cy="274320"/>
          </a:xfrm>
          <a:prstGeom prst="rect">
            <a:avLst/>
          </a:prstGeom>
          <a:noFill/>
          <a:ln/>
        </p:spPr>
        <p:txBody>
          <a:bodyPr wrap="square" lIns="0" tIns="0" rIns="0" bIns="0" rtlCol="0" anchor="ctr"/>
          <a:lstStyle/>
          <a:p>
            <a:pPr indent="0" marL="0">
              <a:buNone/>
            </a:pPr>
            <a:r>
              <a:rPr lang="en-US" sz="1000" dirty="0">
                <a:solidFill>
                  <a:srgbClr val="7A6B6B"/>
                </a:solidFill>
                <a:latin typeface="Calibri" pitchFamily="34" charset="0"/>
                <a:ea typeface="Calibri" pitchFamily="34" charset="-122"/>
                <a:cs typeface="Calibri" pitchFamily="34" charset="-120"/>
              </a:rPr>
              <a:t>La red que te sostiene cuando decides saltar.</a:t>
            </a:r>
            <a:endParaRPr lang="en-US" sz="1000" dirty="0"/>
          </a:p>
        </p:txBody>
      </p:sp>
      <p:sp>
        <p:nvSpPr>
          <p:cNvPr id="28" name="Text 22"/>
          <p:cNvSpPr/>
          <p:nvPr/>
        </p:nvSpPr>
        <p:spPr>
          <a:xfrm>
            <a:off x="4983480" y="4023360"/>
            <a:ext cx="3200400" cy="274320"/>
          </a:xfrm>
          <a:prstGeom prst="rect">
            <a:avLst/>
          </a:prstGeom>
          <a:noFill/>
          <a:ln/>
        </p:spPr>
        <p:txBody>
          <a:bodyPr wrap="square" lIns="0" tIns="0" rIns="0" bIns="0" rtlCol="0" anchor="ctr"/>
          <a:lstStyle/>
          <a:p>
            <a:pPr indent="0" marL="0">
              <a:buNone/>
            </a:pPr>
            <a:r>
              <a:rPr lang="en-US" sz="900" i="1" dirty="0">
                <a:solidFill>
                  <a:srgbClr val="B5A5A5"/>
                </a:solidFill>
                <a:latin typeface="Calibri Light" pitchFamily="34" charset="0"/>
                <a:ea typeface="Calibri Light" pitchFamily="34" charset="-122"/>
                <a:cs typeface="Calibri Light" pitchFamily="34" charset="-120"/>
              </a:rPr>
              <a:t>The net that holds you when you decide to leap.</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7D4E57"/>
        </a:solidFill>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indent="0" marL="0">
              <a:buNone/>
            </a:pPr>
            <a:r>
              <a:rPr lang="en-US" sz="1400" dirty="0">
                <a:solidFill>
                  <a:srgbClr val="E8D5A8"/>
                </a:solidFill>
                <a:latin typeface="Georgia" pitchFamily="34" charset="0"/>
                <a:ea typeface="Georgia" pitchFamily="34" charset="-122"/>
                <a:cs typeface="Georgia" pitchFamily="34" charset="-120"/>
              </a:rPr>
              <a:t>09</a:t>
            </a:r>
            <a:endParaRPr lang="en-US" sz="1400" dirty="0"/>
          </a:p>
        </p:txBody>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2800" b="1" dirty="0">
                <a:solidFill>
                  <a:srgbClr val="FDF8F4"/>
                </a:solidFill>
                <a:latin typeface="Georgia" pitchFamily="34" charset="0"/>
                <a:ea typeface="Georgia" pitchFamily="34" charset="-122"/>
                <a:cs typeface="Georgia" pitchFamily="34" charset="-120"/>
              </a:rPr>
              <a:t>Nuestra Audiencia / Our Audience</a:t>
            </a:r>
            <a:endParaRPr lang="en-US" sz="2800" dirty="0"/>
          </a:p>
        </p:txBody>
      </p:sp>
      <p:sp>
        <p:nvSpPr>
          <p:cNvPr id="4" name="Shape 2"/>
          <p:cNvSpPr/>
          <p:nvPr/>
        </p:nvSpPr>
        <p:spPr>
          <a:xfrm>
            <a:off x="731520" y="1463040"/>
            <a:ext cx="7680960" cy="1097280"/>
          </a:xfrm>
          <a:prstGeom prst="rect">
            <a:avLst/>
          </a:prstGeom>
          <a:solidFill>
            <a:srgbClr val="7D4E57"/>
          </a:solidFill>
          <a:ln w="12700">
            <a:solidFill>
              <a:srgbClr val="C4908A"/>
            </a:solidFill>
            <a:prstDash val="solid"/>
          </a:ln>
        </p:spPr>
      </p:sp>
      <p:sp>
        <p:nvSpPr>
          <p:cNvPr id="5" name="Text 3"/>
          <p:cNvSpPr/>
          <p:nvPr/>
        </p:nvSpPr>
        <p:spPr>
          <a:xfrm>
            <a:off x="1005840" y="1554480"/>
            <a:ext cx="7132320" cy="822960"/>
          </a:xfrm>
          <a:prstGeom prst="rect">
            <a:avLst/>
          </a:prstGeom>
          <a:noFill/>
          <a:ln/>
        </p:spPr>
        <p:txBody>
          <a:bodyPr wrap="square" lIns="0" tIns="0" rIns="0" bIns="0" rtlCol="0" anchor="ctr"/>
          <a:lstStyle/>
          <a:p>
            <a:pPr indent="0" marL="0">
              <a:lnSpc>
                <a:spcPct val="140000"/>
              </a:lnSpc>
              <a:buNone/>
            </a:pPr>
            <a:r>
              <a:rPr lang="en-US" sz="1200" i="1" dirty="0">
                <a:solidFill>
                  <a:srgbClr val="E8C4C0"/>
                </a:solidFill>
                <a:latin typeface="Calibri" pitchFamily="34" charset="0"/>
                <a:ea typeface="Calibri" pitchFamily="34" charset="-122"/>
                <a:cs typeface="Calibri" pitchFamily="34" charset="-120"/>
              </a:rPr>
              <a:t>Mujeres fuertes que sienten que pueden volar pero les da "miedo" pedir ayuda. Llenas de ideas, con una profesión y un sueño de emprender, pero estancadas o sin saber por dónde empezar. Mujeres que quieren independencia, bienestar y comunidad.</a:t>
            </a:r>
            <a:endParaRPr lang="en-US" sz="1200" dirty="0"/>
          </a:p>
        </p:txBody>
      </p:sp>
      <p:sp>
        <p:nvSpPr>
          <p:cNvPr id="6" name="Shape 4"/>
          <p:cNvSpPr/>
          <p:nvPr/>
        </p:nvSpPr>
        <p:spPr>
          <a:xfrm>
            <a:off x="822960" y="2907792"/>
            <a:ext cx="164592" cy="164592"/>
          </a:xfrm>
          <a:prstGeom prst="ellipse">
            <a:avLst/>
          </a:prstGeom>
          <a:solidFill>
            <a:srgbClr val="C9A96E"/>
          </a:solidFill>
          <a:ln/>
        </p:spPr>
      </p:sp>
      <p:sp>
        <p:nvSpPr>
          <p:cNvPr id="7" name="Text 5"/>
          <p:cNvSpPr/>
          <p:nvPr/>
        </p:nvSpPr>
        <p:spPr>
          <a:xfrm>
            <a:off x="1143000" y="2834640"/>
            <a:ext cx="3291840" cy="228600"/>
          </a:xfrm>
          <a:prstGeom prst="rect">
            <a:avLst/>
          </a:prstGeom>
          <a:noFill/>
          <a:ln/>
        </p:spPr>
        <p:txBody>
          <a:bodyPr wrap="square" lIns="0" tIns="0" rIns="0" bIns="0" rtlCol="0" anchor="ctr"/>
          <a:lstStyle/>
          <a:p>
            <a:pPr indent="0" marL="0">
              <a:buNone/>
            </a:pPr>
            <a:r>
              <a:rPr lang="en-US" sz="1200" b="1" dirty="0">
                <a:solidFill>
                  <a:srgbClr val="FDF8F4"/>
                </a:solidFill>
                <a:latin typeface="Calibri" pitchFamily="34" charset="0"/>
                <a:ea typeface="Calibri" pitchFamily="34" charset="-122"/>
                <a:cs typeface="Calibri" pitchFamily="34" charset="-120"/>
              </a:rPr>
              <a:t>Emprendedoras o aspirantes</a:t>
            </a:r>
            <a:endParaRPr lang="en-US" sz="1200" dirty="0"/>
          </a:p>
        </p:txBody>
      </p:sp>
      <p:sp>
        <p:nvSpPr>
          <p:cNvPr id="8" name="Text 6"/>
          <p:cNvSpPr/>
          <p:nvPr/>
        </p:nvSpPr>
        <p:spPr>
          <a:xfrm>
            <a:off x="1143000" y="3063240"/>
            <a:ext cx="3291840" cy="182880"/>
          </a:xfrm>
          <a:prstGeom prst="rect">
            <a:avLst/>
          </a:prstGeom>
          <a:noFill/>
          <a:ln/>
        </p:spPr>
        <p:txBody>
          <a:bodyPr wrap="square" lIns="0" tIns="0" rIns="0" bIns="0" rtlCol="0" anchor="ctr"/>
          <a:lstStyle/>
          <a:p>
            <a:pPr indent="0" marL="0">
              <a:buNone/>
            </a:pPr>
            <a:r>
              <a:rPr lang="en-US" sz="900" i="1" dirty="0">
                <a:solidFill>
                  <a:srgbClr val="B5A5A5"/>
                </a:solidFill>
                <a:latin typeface="Calibri Light" pitchFamily="34" charset="0"/>
                <a:ea typeface="Calibri Light" pitchFamily="34" charset="-122"/>
                <a:cs typeface="Calibri Light" pitchFamily="34" charset="-120"/>
              </a:rPr>
              <a:t>Entrepreneurs or aspiring ones</a:t>
            </a:r>
            <a:endParaRPr lang="en-US" sz="900" dirty="0"/>
          </a:p>
        </p:txBody>
      </p:sp>
      <p:sp>
        <p:nvSpPr>
          <p:cNvPr id="9" name="Shape 7"/>
          <p:cNvSpPr/>
          <p:nvPr/>
        </p:nvSpPr>
        <p:spPr>
          <a:xfrm>
            <a:off x="822960" y="3593592"/>
            <a:ext cx="164592" cy="164592"/>
          </a:xfrm>
          <a:prstGeom prst="ellipse">
            <a:avLst/>
          </a:prstGeom>
          <a:solidFill>
            <a:srgbClr val="C9A96E"/>
          </a:solidFill>
          <a:ln/>
        </p:spPr>
      </p:sp>
      <p:sp>
        <p:nvSpPr>
          <p:cNvPr id="10" name="Text 8"/>
          <p:cNvSpPr/>
          <p:nvPr/>
        </p:nvSpPr>
        <p:spPr>
          <a:xfrm>
            <a:off x="1143000" y="3520440"/>
            <a:ext cx="3291840" cy="228600"/>
          </a:xfrm>
          <a:prstGeom prst="rect">
            <a:avLst/>
          </a:prstGeom>
          <a:noFill/>
          <a:ln/>
        </p:spPr>
        <p:txBody>
          <a:bodyPr wrap="square" lIns="0" tIns="0" rIns="0" bIns="0" rtlCol="0" anchor="ctr"/>
          <a:lstStyle/>
          <a:p>
            <a:pPr indent="0" marL="0">
              <a:buNone/>
            </a:pPr>
            <a:r>
              <a:rPr lang="en-US" sz="1200" b="1" dirty="0">
                <a:solidFill>
                  <a:srgbClr val="FDF8F4"/>
                </a:solidFill>
                <a:latin typeface="Calibri" pitchFamily="34" charset="0"/>
                <a:ea typeface="Calibri" pitchFamily="34" charset="-122"/>
                <a:cs typeface="Calibri" pitchFamily="34" charset="-120"/>
              </a:rPr>
              <a:t>Profesionales buscando reinventarse</a:t>
            </a:r>
            <a:endParaRPr lang="en-US" sz="1200" dirty="0"/>
          </a:p>
        </p:txBody>
      </p:sp>
      <p:sp>
        <p:nvSpPr>
          <p:cNvPr id="11" name="Text 9"/>
          <p:cNvSpPr/>
          <p:nvPr/>
        </p:nvSpPr>
        <p:spPr>
          <a:xfrm>
            <a:off x="1143000" y="3749040"/>
            <a:ext cx="3291840" cy="182880"/>
          </a:xfrm>
          <a:prstGeom prst="rect">
            <a:avLst/>
          </a:prstGeom>
          <a:noFill/>
          <a:ln/>
        </p:spPr>
        <p:txBody>
          <a:bodyPr wrap="square" lIns="0" tIns="0" rIns="0" bIns="0" rtlCol="0" anchor="ctr"/>
          <a:lstStyle/>
          <a:p>
            <a:pPr indent="0" marL="0">
              <a:buNone/>
            </a:pPr>
            <a:r>
              <a:rPr lang="en-US" sz="900" i="1" dirty="0">
                <a:solidFill>
                  <a:srgbClr val="B5A5A5"/>
                </a:solidFill>
                <a:latin typeface="Calibri Light" pitchFamily="34" charset="0"/>
                <a:ea typeface="Calibri Light" pitchFamily="34" charset="-122"/>
                <a:cs typeface="Calibri Light" pitchFamily="34" charset="-120"/>
              </a:rPr>
              <a:t>Professionals looking to reinvent</a:t>
            </a:r>
            <a:endParaRPr lang="en-US" sz="900" dirty="0"/>
          </a:p>
        </p:txBody>
      </p:sp>
      <p:sp>
        <p:nvSpPr>
          <p:cNvPr id="12" name="Shape 10"/>
          <p:cNvSpPr/>
          <p:nvPr/>
        </p:nvSpPr>
        <p:spPr>
          <a:xfrm>
            <a:off x="822960" y="4279392"/>
            <a:ext cx="164592" cy="164592"/>
          </a:xfrm>
          <a:prstGeom prst="ellipse">
            <a:avLst/>
          </a:prstGeom>
          <a:solidFill>
            <a:srgbClr val="C9A96E"/>
          </a:solidFill>
          <a:ln/>
        </p:spPr>
      </p:sp>
      <p:sp>
        <p:nvSpPr>
          <p:cNvPr id="13" name="Text 11"/>
          <p:cNvSpPr/>
          <p:nvPr/>
        </p:nvSpPr>
        <p:spPr>
          <a:xfrm>
            <a:off x="1143000" y="4206240"/>
            <a:ext cx="3291840" cy="228600"/>
          </a:xfrm>
          <a:prstGeom prst="rect">
            <a:avLst/>
          </a:prstGeom>
          <a:noFill/>
          <a:ln/>
        </p:spPr>
        <p:txBody>
          <a:bodyPr wrap="square" lIns="0" tIns="0" rIns="0" bIns="0" rtlCol="0" anchor="ctr"/>
          <a:lstStyle/>
          <a:p>
            <a:pPr indent="0" marL="0">
              <a:buNone/>
            </a:pPr>
            <a:r>
              <a:rPr lang="en-US" sz="1200" b="1" dirty="0">
                <a:solidFill>
                  <a:srgbClr val="FDF8F4"/>
                </a:solidFill>
                <a:latin typeface="Calibri" pitchFamily="34" charset="0"/>
                <a:ea typeface="Calibri" pitchFamily="34" charset="-122"/>
                <a:cs typeface="Calibri" pitchFamily="34" charset="-120"/>
              </a:rPr>
              <a:t>Buscan wellness integral</a:t>
            </a:r>
            <a:endParaRPr lang="en-US" sz="1200" dirty="0"/>
          </a:p>
        </p:txBody>
      </p:sp>
      <p:sp>
        <p:nvSpPr>
          <p:cNvPr id="14" name="Text 12"/>
          <p:cNvSpPr/>
          <p:nvPr/>
        </p:nvSpPr>
        <p:spPr>
          <a:xfrm>
            <a:off x="1143000" y="4434840"/>
            <a:ext cx="3291840" cy="182880"/>
          </a:xfrm>
          <a:prstGeom prst="rect">
            <a:avLst/>
          </a:prstGeom>
          <a:noFill/>
          <a:ln/>
        </p:spPr>
        <p:txBody>
          <a:bodyPr wrap="square" lIns="0" tIns="0" rIns="0" bIns="0" rtlCol="0" anchor="ctr"/>
          <a:lstStyle/>
          <a:p>
            <a:pPr indent="0" marL="0">
              <a:buNone/>
            </a:pPr>
            <a:r>
              <a:rPr lang="en-US" sz="900" i="1" dirty="0">
                <a:solidFill>
                  <a:srgbClr val="B5A5A5"/>
                </a:solidFill>
                <a:latin typeface="Calibri Light" pitchFamily="34" charset="0"/>
                <a:ea typeface="Calibri Light" pitchFamily="34" charset="-122"/>
                <a:cs typeface="Calibri Light" pitchFamily="34" charset="-120"/>
              </a:rPr>
              <a:t>Seeking holistic wellness</a:t>
            </a:r>
            <a:endParaRPr lang="en-US" sz="900" dirty="0"/>
          </a:p>
        </p:txBody>
      </p:sp>
      <p:sp>
        <p:nvSpPr>
          <p:cNvPr id="15" name="Shape 13"/>
          <p:cNvSpPr/>
          <p:nvPr/>
        </p:nvSpPr>
        <p:spPr>
          <a:xfrm>
            <a:off x="4846320" y="2907792"/>
            <a:ext cx="164592" cy="164592"/>
          </a:xfrm>
          <a:prstGeom prst="ellipse">
            <a:avLst/>
          </a:prstGeom>
          <a:solidFill>
            <a:srgbClr val="C9A96E"/>
          </a:solidFill>
          <a:ln/>
        </p:spPr>
      </p:sp>
      <p:sp>
        <p:nvSpPr>
          <p:cNvPr id="16" name="Text 14"/>
          <p:cNvSpPr/>
          <p:nvPr/>
        </p:nvSpPr>
        <p:spPr>
          <a:xfrm>
            <a:off x="5166360" y="2834640"/>
            <a:ext cx="3291840" cy="228600"/>
          </a:xfrm>
          <a:prstGeom prst="rect">
            <a:avLst/>
          </a:prstGeom>
          <a:noFill/>
          <a:ln/>
        </p:spPr>
        <p:txBody>
          <a:bodyPr wrap="square" lIns="0" tIns="0" rIns="0" bIns="0" rtlCol="0" anchor="ctr"/>
          <a:lstStyle/>
          <a:p>
            <a:pPr indent="0" marL="0">
              <a:buNone/>
            </a:pPr>
            <a:r>
              <a:rPr lang="en-US" sz="1200" b="1" dirty="0">
                <a:solidFill>
                  <a:srgbClr val="FDF8F4"/>
                </a:solidFill>
                <a:latin typeface="Calibri" pitchFamily="34" charset="0"/>
                <a:ea typeface="Calibri" pitchFamily="34" charset="-122"/>
                <a:cs typeface="Calibri" pitchFamily="34" charset="-120"/>
              </a:rPr>
              <a:t>Valoran la comunidad</a:t>
            </a:r>
            <a:endParaRPr lang="en-US" sz="1200" dirty="0"/>
          </a:p>
        </p:txBody>
      </p:sp>
      <p:sp>
        <p:nvSpPr>
          <p:cNvPr id="17" name="Text 15"/>
          <p:cNvSpPr/>
          <p:nvPr/>
        </p:nvSpPr>
        <p:spPr>
          <a:xfrm>
            <a:off x="5166360" y="3063240"/>
            <a:ext cx="3291840" cy="182880"/>
          </a:xfrm>
          <a:prstGeom prst="rect">
            <a:avLst/>
          </a:prstGeom>
          <a:noFill/>
          <a:ln/>
        </p:spPr>
        <p:txBody>
          <a:bodyPr wrap="square" lIns="0" tIns="0" rIns="0" bIns="0" rtlCol="0" anchor="ctr"/>
          <a:lstStyle/>
          <a:p>
            <a:pPr indent="0" marL="0">
              <a:buNone/>
            </a:pPr>
            <a:r>
              <a:rPr lang="en-US" sz="900" i="1" dirty="0">
                <a:solidFill>
                  <a:srgbClr val="B5A5A5"/>
                </a:solidFill>
                <a:latin typeface="Calibri Light" pitchFamily="34" charset="0"/>
                <a:ea typeface="Calibri Light" pitchFamily="34" charset="-122"/>
                <a:cs typeface="Calibri Light" pitchFamily="34" charset="-120"/>
              </a:rPr>
              <a:t>Value community &amp; connection</a:t>
            </a:r>
            <a:endParaRPr lang="en-US" sz="900" dirty="0"/>
          </a:p>
        </p:txBody>
      </p:sp>
      <p:sp>
        <p:nvSpPr>
          <p:cNvPr id="18" name="Shape 16"/>
          <p:cNvSpPr/>
          <p:nvPr/>
        </p:nvSpPr>
        <p:spPr>
          <a:xfrm>
            <a:off x="4846320" y="3593592"/>
            <a:ext cx="164592" cy="164592"/>
          </a:xfrm>
          <a:prstGeom prst="ellipse">
            <a:avLst/>
          </a:prstGeom>
          <a:solidFill>
            <a:srgbClr val="C9A96E"/>
          </a:solidFill>
          <a:ln/>
        </p:spPr>
      </p:sp>
      <p:sp>
        <p:nvSpPr>
          <p:cNvPr id="19" name="Text 17"/>
          <p:cNvSpPr/>
          <p:nvPr/>
        </p:nvSpPr>
        <p:spPr>
          <a:xfrm>
            <a:off x="5166360" y="3520440"/>
            <a:ext cx="3291840" cy="228600"/>
          </a:xfrm>
          <a:prstGeom prst="rect">
            <a:avLst/>
          </a:prstGeom>
          <a:noFill/>
          <a:ln/>
        </p:spPr>
        <p:txBody>
          <a:bodyPr wrap="square" lIns="0" tIns="0" rIns="0" bIns="0" rtlCol="0" anchor="ctr"/>
          <a:lstStyle/>
          <a:p>
            <a:pPr indent="0" marL="0">
              <a:buNone/>
            </a:pPr>
            <a:r>
              <a:rPr lang="en-US" sz="1200" b="1" dirty="0">
                <a:solidFill>
                  <a:srgbClr val="FDF8F4"/>
                </a:solidFill>
                <a:latin typeface="Calibri" pitchFamily="34" charset="0"/>
                <a:ea typeface="Calibri" pitchFamily="34" charset="-122"/>
                <a:cs typeface="Calibri" pitchFamily="34" charset="-120"/>
              </a:rPr>
              <a:t>Latinoamericanas empoderadas</a:t>
            </a:r>
            <a:endParaRPr lang="en-US" sz="1200" dirty="0"/>
          </a:p>
        </p:txBody>
      </p:sp>
      <p:sp>
        <p:nvSpPr>
          <p:cNvPr id="20" name="Text 18"/>
          <p:cNvSpPr/>
          <p:nvPr/>
        </p:nvSpPr>
        <p:spPr>
          <a:xfrm>
            <a:off x="5166360" y="3749040"/>
            <a:ext cx="3291840" cy="182880"/>
          </a:xfrm>
          <a:prstGeom prst="rect">
            <a:avLst/>
          </a:prstGeom>
          <a:noFill/>
          <a:ln/>
        </p:spPr>
        <p:txBody>
          <a:bodyPr wrap="square" lIns="0" tIns="0" rIns="0" bIns="0" rtlCol="0" anchor="ctr"/>
          <a:lstStyle/>
          <a:p>
            <a:pPr indent="0" marL="0">
              <a:buNone/>
            </a:pPr>
            <a:r>
              <a:rPr lang="en-US" sz="900" i="1" dirty="0">
                <a:solidFill>
                  <a:srgbClr val="B5A5A5"/>
                </a:solidFill>
                <a:latin typeface="Calibri Light" pitchFamily="34" charset="0"/>
                <a:ea typeface="Calibri Light" pitchFamily="34" charset="-122"/>
                <a:cs typeface="Calibri Light" pitchFamily="34" charset="-120"/>
              </a:rPr>
              <a:t>Empowered Latin American women</a:t>
            </a:r>
            <a:endParaRPr lang="en-US" sz="900" dirty="0"/>
          </a:p>
        </p:txBody>
      </p:sp>
      <p:sp>
        <p:nvSpPr>
          <p:cNvPr id="21" name="Shape 19"/>
          <p:cNvSpPr/>
          <p:nvPr/>
        </p:nvSpPr>
        <p:spPr>
          <a:xfrm>
            <a:off x="4846320" y="4279392"/>
            <a:ext cx="164592" cy="164592"/>
          </a:xfrm>
          <a:prstGeom prst="ellipse">
            <a:avLst/>
          </a:prstGeom>
          <a:solidFill>
            <a:srgbClr val="C9A96E"/>
          </a:solidFill>
          <a:ln/>
        </p:spPr>
      </p:sp>
      <p:sp>
        <p:nvSpPr>
          <p:cNvPr id="22" name="Text 20"/>
          <p:cNvSpPr/>
          <p:nvPr/>
        </p:nvSpPr>
        <p:spPr>
          <a:xfrm>
            <a:off x="5166360" y="4206240"/>
            <a:ext cx="3291840" cy="228600"/>
          </a:xfrm>
          <a:prstGeom prst="rect">
            <a:avLst/>
          </a:prstGeom>
          <a:noFill/>
          <a:ln/>
        </p:spPr>
        <p:txBody>
          <a:bodyPr wrap="square" lIns="0" tIns="0" rIns="0" bIns="0" rtlCol="0" anchor="ctr"/>
          <a:lstStyle/>
          <a:p>
            <a:pPr indent="0" marL="0">
              <a:buNone/>
            </a:pPr>
            <a:r>
              <a:rPr lang="en-US" sz="1200" b="1" dirty="0">
                <a:solidFill>
                  <a:srgbClr val="FDF8F4"/>
                </a:solidFill>
                <a:latin typeface="Calibri" pitchFamily="34" charset="0"/>
                <a:ea typeface="Calibri" pitchFamily="34" charset="-122"/>
                <a:cs typeface="Calibri" pitchFamily="34" charset="-120"/>
              </a:rPr>
              <a:t>Quieren herramientas, no caridad</a:t>
            </a:r>
            <a:endParaRPr lang="en-US" sz="1200" dirty="0"/>
          </a:p>
        </p:txBody>
      </p:sp>
      <p:sp>
        <p:nvSpPr>
          <p:cNvPr id="23" name="Text 21"/>
          <p:cNvSpPr/>
          <p:nvPr/>
        </p:nvSpPr>
        <p:spPr>
          <a:xfrm>
            <a:off x="5166360" y="4434840"/>
            <a:ext cx="3291840" cy="182880"/>
          </a:xfrm>
          <a:prstGeom prst="rect">
            <a:avLst/>
          </a:prstGeom>
          <a:noFill/>
          <a:ln/>
        </p:spPr>
        <p:txBody>
          <a:bodyPr wrap="square" lIns="0" tIns="0" rIns="0" bIns="0" rtlCol="0" anchor="ctr"/>
          <a:lstStyle/>
          <a:p>
            <a:pPr indent="0" marL="0">
              <a:buNone/>
            </a:pPr>
            <a:r>
              <a:rPr lang="en-US" sz="900" i="1" dirty="0">
                <a:solidFill>
                  <a:srgbClr val="B5A5A5"/>
                </a:solidFill>
                <a:latin typeface="Calibri Light" pitchFamily="34" charset="0"/>
                <a:ea typeface="Calibri Light" pitchFamily="34" charset="-122"/>
                <a:cs typeface="Calibri Light" pitchFamily="34" charset="-120"/>
              </a:rPr>
              <a:t>Want tools, not charity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8F4"/>
        </a:solidFill>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indent="0" marL="0">
              <a:buNone/>
            </a:pPr>
            <a:r>
              <a:rPr lang="en-US" sz="1400" dirty="0">
                <a:solidFill>
                  <a:srgbClr val="C9A96E"/>
                </a:solidFill>
                <a:latin typeface="Georgia" pitchFamily="34" charset="0"/>
                <a:ea typeface="Georgia" pitchFamily="34" charset="-122"/>
                <a:cs typeface="Georgia" pitchFamily="34" charset="-120"/>
              </a:rPr>
              <a:t>10</a:t>
            </a:r>
            <a:endParaRPr lang="en-US" sz="1400" dirty="0"/>
          </a:p>
        </p:txBody>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2800" b="1" dirty="0">
                <a:solidFill>
                  <a:srgbClr val="4A3035"/>
                </a:solidFill>
                <a:latin typeface="Georgia" pitchFamily="34" charset="0"/>
                <a:ea typeface="Georgia" pitchFamily="34" charset="-122"/>
                <a:cs typeface="Georgia" pitchFamily="34" charset="-120"/>
              </a:rPr>
              <a:t>Aplicaciones / Applications</a:t>
            </a:r>
            <a:endParaRPr lang="en-US" sz="2800" dirty="0"/>
          </a:p>
        </p:txBody>
      </p:sp>
      <p:sp>
        <p:nvSpPr>
          <p:cNvPr id="4" name="Shape 2"/>
          <p:cNvSpPr/>
          <p:nvPr/>
        </p:nvSpPr>
        <p:spPr>
          <a:xfrm>
            <a:off x="731520" y="1280160"/>
            <a:ext cx="1828800" cy="36576"/>
          </a:xfrm>
          <a:prstGeom prst="rect">
            <a:avLst/>
          </a:prstGeom>
          <a:solidFill>
            <a:srgbClr val="C9A96E"/>
          </a:solidFill>
          <a:ln/>
        </p:spPr>
      </p:sp>
      <p:sp>
        <p:nvSpPr>
          <p:cNvPr id="5" name="Shape 3"/>
          <p:cNvSpPr/>
          <p:nvPr/>
        </p:nvSpPr>
        <p:spPr>
          <a:xfrm>
            <a:off x="731520" y="1554480"/>
            <a:ext cx="2286000" cy="3200400"/>
          </a:xfrm>
          <a:prstGeom prst="rect">
            <a:avLst/>
          </a:prstGeom>
          <a:solidFill>
            <a:srgbClr val="4A3035"/>
          </a:solidFill>
          <a:ln/>
          <a:effectLst>
            <a:outerShdw sx="100000" sy="100000" kx="0" ky="0" algn="bl" rotWithShape="0" blurRad="101600" dist="38100" dir="8100000">
              <a:srgbClr val="000000">
                <a:alpha val="10000"/>
              </a:srgbClr>
            </a:outerShdw>
          </a:effectLst>
        </p:spPr>
      </p:sp>
      <p:sp>
        <p:nvSpPr>
          <p:cNvPr id="6" name="Shape 4"/>
          <p:cNvSpPr/>
          <p:nvPr/>
        </p:nvSpPr>
        <p:spPr>
          <a:xfrm>
            <a:off x="914400" y="1828800"/>
            <a:ext cx="1920240" cy="2651760"/>
          </a:xfrm>
          <a:prstGeom prst="rect">
            <a:avLst/>
          </a:prstGeom>
          <a:solidFill>
            <a:srgbClr val="F5E1DE"/>
          </a:solidFill>
          <a:ln/>
        </p:spPr>
      </p:sp>
      <p:sp>
        <p:nvSpPr>
          <p:cNvPr id="7" name="Text 5"/>
          <p:cNvSpPr/>
          <p:nvPr/>
        </p:nvSpPr>
        <p:spPr>
          <a:xfrm>
            <a:off x="914400" y="1965960"/>
            <a:ext cx="1920240" cy="365760"/>
          </a:xfrm>
          <a:prstGeom prst="rect">
            <a:avLst/>
          </a:prstGeom>
          <a:noFill/>
          <a:ln/>
        </p:spPr>
        <p:txBody>
          <a:bodyPr wrap="square" lIns="0" tIns="0" rIns="0" bIns="0" rtlCol="0" anchor="ctr"/>
          <a:lstStyle/>
          <a:p>
            <a:pPr algn="ctr" indent="0" marL="0">
              <a:buNone/>
            </a:pPr>
            <a:r>
              <a:rPr lang="en-US" sz="1600" b="1" dirty="0">
                <a:solidFill>
                  <a:srgbClr val="4A3035"/>
                </a:solidFill>
                <a:latin typeface="Georgia" pitchFamily="34" charset="0"/>
                <a:ea typeface="Georgia" pitchFamily="34" charset="-122"/>
                <a:cs typeface="Georgia" pitchFamily="34" charset="-120"/>
              </a:rPr>
              <a:t>RONDA</a:t>
            </a:r>
            <a:endParaRPr lang="en-US" sz="1600" dirty="0"/>
          </a:p>
        </p:txBody>
      </p:sp>
      <p:sp>
        <p:nvSpPr>
          <p:cNvPr id="8" name="Shape 6"/>
          <p:cNvSpPr/>
          <p:nvPr/>
        </p:nvSpPr>
        <p:spPr>
          <a:xfrm>
            <a:off x="1417320" y="2468880"/>
            <a:ext cx="914400" cy="914400"/>
          </a:xfrm>
          <a:prstGeom prst="ellipse">
            <a:avLst/>
          </a:prstGeom>
          <a:solidFill>
            <a:srgbClr val="C4908A">
              <a:alpha val="70000"/>
            </a:srgbClr>
          </a:solidFill>
          <a:ln/>
        </p:spPr>
      </p:sp>
      <p:sp>
        <p:nvSpPr>
          <p:cNvPr id="9" name="Text 7"/>
          <p:cNvSpPr/>
          <p:nvPr/>
        </p:nvSpPr>
        <p:spPr>
          <a:xfrm>
            <a:off x="914400" y="3520440"/>
            <a:ext cx="1920240" cy="457200"/>
          </a:xfrm>
          <a:prstGeom prst="rect">
            <a:avLst/>
          </a:prstGeom>
          <a:noFill/>
          <a:ln/>
        </p:spPr>
        <p:txBody>
          <a:bodyPr wrap="square" lIns="0" tIns="0" rIns="0" bIns="0" rtlCol="0" anchor="ctr"/>
          <a:lstStyle/>
          <a:p>
            <a:pPr algn="ctr" indent="0" marL="0">
              <a:buNone/>
            </a:pPr>
            <a:r>
              <a:rPr lang="en-US" sz="900" dirty="0">
                <a:solidFill>
                  <a:srgbClr val="4A3035"/>
                </a:solidFill>
                <a:latin typeface="Calibri" pitchFamily="34" charset="0"/>
                <a:ea typeface="Calibri" pitchFamily="34" charset="-122"/>
                <a:cs typeface="Calibri" pitchFamily="34" charset="-120"/>
              </a:rPr>
              <a:t>Dashboard</a:t>
            </a:r>
            <a:endParaRPr lang="en-US" sz="900" dirty="0"/>
          </a:p>
          <a:p>
            <a:pPr algn="ctr" indent="0" marL="0">
              <a:buNone/>
            </a:pPr>
            <a:r>
              <a:rPr lang="en-US" sz="900" dirty="0">
                <a:solidFill>
                  <a:srgbClr val="4A3035"/>
                </a:solidFill>
                <a:latin typeface="Calibri" pitchFamily="34" charset="0"/>
                <a:ea typeface="Calibri" pitchFamily="34" charset="-122"/>
                <a:cs typeface="Calibri" pitchFamily="34" charset="-120"/>
              </a:rPr>
              <a:t>Personalizado</a:t>
            </a:r>
            <a:endParaRPr lang="en-US" sz="900" dirty="0"/>
          </a:p>
        </p:txBody>
      </p:sp>
      <p:sp>
        <p:nvSpPr>
          <p:cNvPr id="10" name="Shape 8"/>
          <p:cNvSpPr/>
          <p:nvPr/>
        </p:nvSpPr>
        <p:spPr>
          <a:xfrm>
            <a:off x="1051560" y="4023360"/>
            <a:ext cx="1645920" cy="228600"/>
          </a:xfrm>
          <a:prstGeom prst="rect">
            <a:avLst/>
          </a:prstGeom>
          <a:solidFill>
            <a:srgbClr val="C9A96E"/>
          </a:solidFill>
          <a:ln/>
        </p:spPr>
      </p:sp>
      <p:sp>
        <p:nvSpPr>
          <p:cNvPr id="11" name="Text 9"/>
          <p:cNvSpPr/>
          <p:nvPr/>
        </p:nvSpPr>
        <p:spPr>
          <a:xfrm>
            <a:off x="1051560" y="4023360"/>
            <a:ext cx="164592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Comenzar</a:t>
            </a:r>
            <a:endParaRPr lang="en-US" sz="900" dirty="0"/>
          </a:p>
        </p:txBody>
      </p:sp>
      <p:sp>
        <p:nvSpPr>
          <p:cNvPr id="12" name="Shape 10"/>
          <p:cNvSpPr/>
          <p:nvPr/>
        </p:nvSpPr>
        <p:spPr>
          <a:xfrm>
            <a:off x="3383280" y="1554480"/>
            <a:ext cx="5029200" cy="640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Text 11"/>
          <p:cNvSpPr/>
          <p:nvPr/>
        </p:nvSpPr>
        <p:spPr>
          <a:xfrm>
            <a:off x="3611880" y="1627632"/>
            <a:ext cx="4572000" cy="228600"/>
          </a:xfrm>
          <a:prstGeom prst="rect">
            <a:avLst/>
          </a:prstGeom>
          <a:noFill/>
          <a:ln/>
        </p:spPr>
        <p:txBody>
          <a:bodyPr wrap="square" lIns="0" tIns="0" rIns="0" bIns="0" rtlCol="0" anchor="ctr"/>
          <a:lstStyle/>
          <a:p>
            <a:pPr indent="0" marL="0">
              <a:buNone/>
            </a:pPr>
            <a:r>
              <a:rPr lang="en-US" sz="1200" b="1" dirty="0">
                <a:solidFill>
                  <a:srgbClr val="4A3035"/>
                </a:solidFill>
                <a:latin typeface="Georgia" pitchFamily="34" charset="0"/>
                <a:ea typeface="Georgia" pitchFamily="34" charset="-122"/>
                <a:cs typeface="Georgia" pitchFamily="34" charset="-120"/>
              </a:rPr>
              <a:t>App &amp; Dashboard</a:t>
            </a:r>
            <a:endParaRPr lang="en-US" sz="1200" dirty="0"/>
          </a:p>
        </p:txBody>
      </p:sp>
      <p:sp>
        <p:nvSpPr>
          <p:cNvPr id="14" name="Text 12"/>
          <p:cNvSpPr/>
          <p:nvPr/>
        </p:nvSpPr>
        <p:spPr>
          <a:xfrm>
            <a:off x="3611880" y="1847088"/>
            <a:ext cx="4572000" cy="292608"/>
          </a:xfrm>
          <a:prstGeom prst="rect">
            <a:avLst/>
          </a:prstGeom>
          <a:noFill/>
          <a:ln/>
        </p:spPr>
        <p:txBody>
          <a:bodyPr wrap="square" lIns="0" tIns="0" rIns="0" bIns="0" rtlCol="0" anchor="ctr"/>
          <a:lstStyle/>
          <a:p>
            <a:pPr indent="0" marL="0">
              <a:buNone/>
            </a:pPr>
            <a:r>
              <a:rPr lang="en-US" sz="900" dirty="0">
                <a:solidFill>
                  <a:srgbClr val="7A6B6B"/>
                </a:solidFill>
                <a:latin typeface="Calibri Light" pitchFamily="34" charset="0"/>
                <a:ea typeface="Calibri Light" pitchFamily="34" charset="-122"/>
                <a:cs typeface="Calibri Light" pitchFamily="34" charset="-120"/>
              </a:rPr>
              <a:t>Interfaz personalizada con rosa viejo, dorado y fondos crema. Cada usuaria ve su propio universo de contenido.</a:t>
            </a:r>
            <a:endParaRPr lang="en-US" sz="900" dirty="0"/>
          </a:p>
        </p:txBody>
      </p:sp>
      <p:sp>
        <p:nvSpPr>
          <p:cNvPr id="15" name="Shape 13"/>
          <p:cNvSpPr/>
          <p:nvPr/>
        </p:nvSpPr>
        <p:spPr>
          <a:xfrm>
            <a:off x="3383280" y="2331720"/>
            <a:ext cx="5029200" cy="640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Text 14"/>
          <p:cNvSpPr/>
          <p:nvPr/>
        </p:nvSpPr>
        <p:spPr>
          <a:xfrm>
            <a:off x="3611880" y="2404872"/>
            <a:ext cx="4572000" cy="228600"/>
          </a:xfrm>
          <a:prstGeom prst="rect">
            <a:avLst/>
          </a:prstGeom>
          <a:noFill/>
          <a:ln/>
        </p:spPr>
        <p:txBody>
          <a:bodyPr wrap="square" lIns="0" tIns="0" rIns="0" bIns="0" rtlCol="0" anchor="ctr"/>
          <a:lstStyle/>
          <a:p>
            <a:pPr indent="0" marL="0">
              <a:buNone/>
            </a:pPr>
            <a:r>
              <a:rPr lang="en-US" sz="1200" b="1" dirty="0">
                <a:solidFill>
                  <a:srgbClr val="4A3035"/>
                </a:solidFill>
                <a:latin typeface="Georgia" pitchFamily="34" charset="0"/>
                <a:ea typeface="Georgia" pitchFamily="34" charset="-122"/>
                <a:cs typeface="Georgia" pitchFamily="34" charset="-120"/>
              </a:rPr>
              <a:t>Social Media</a:t>
            </a:r>
            <a:endParaRPr lang="en-US" sz="1200" dirty="0"/>
          </a:p>
        </p:txBody>
      </p:sp>
      <p:sp>
        <p:nvSpPr>
          <p:cNvPr id="17" name="Text 15"/>
          <p:cNvSpPr/>
          <p:nvPr/>
        </p:nvSpPr>
        <p:spPr>
          <a:xfrm>
            <a:off x="3611880" y="2624328"/>
            <a:ext cx="4572000" cy="292608"/>
          </a:xfrm>
          <a:prstGeom prst="rect">
            <a:avLst/>
          </a:prstGeom>
          <a:noFill/>
          <a:ln/>
        </p:spPr>
        <p:txBody>
          <a:bodyPr wrap="square" lIns="0" tIns="0" rIns="0" bIns="0" rtlCol="0" anchor="ctr"/>
          <a:lstStyle/>
          <a:p>
            <a:pPr indent="0" marL="0">
              <a:buNone/>
            </a:pPr>
            <a:r>
              <a:rPr lang="en-US" sz="900" dirty="0">
                <a:solidFill>
                  <a:srgbClr val="7A6B6B"/>
                </a:solidFill>
                <a:latin typeface="Calibri Light" pitchFamily="34" charset="0"/>
                <a:ea typeface="Calibri Light" pitchFamily="34" charset="-122"/>
                <a:cs typeface="Calibri Light" pitchFamily="34" charset="-120"/>
              </a:rPr>
              <a:t>Templates para Instagram, stories y posts con la paleta y tipografía definida. Frases del manifiesto como contenido.</a:t>
            </a:r>
            <a:endParaRPr lang="en-US" sz="900" dirty="0"/>
          </a:p>
        </p:txBody>
      </p:sp>
      <p:sp>
        <p:nvSpPr>
          <p:cNvPr id="18" name="Shape 16"/>
          <p:cNvSpPr/>
          <p:nvPr/>
        </p:nvSpPr>
        <p:spPr>
          <a:xfrm>
            <a:off x="3383280" y="3108960"/>
            <a:ext cx="5029200" cy="640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Text 17"/>
          <p:cNvSpPr/>
          <p:nvPr/>
        </p:nvSpPr>
        <p:spPr>
          <a:xfrm>
            <a:off x="3611880" y="3182112"/>
            <a:ext cx="4572000" cy="228600"/>
          </a:xfrm>
          <a:prstGeom prst="rect">
            <a:avLst/>
          </a:prstGeom>
          <a:noFill/>
          <a:ln/>
        </p:spPr>
        <p:txBody>
          <a:bodyPr wrap="square" lIns="0" tIns="0" rIns="0" bIns="0" rtlCol="0" anchor="ctr"/>
          <a:lstStyle/>
          <a:p>
            <a:pPr indent="0" marL="0">
              <a:buNone/>
            </a:pPr>
            <a:r>
              <a:rPr lang="en-US" sz="1200" b="1" dirty="0">
                <a:solidFill>
                  <a:srgbClr val="4A3035"/>
                </a:solidFill>
                <a:latin typeface="Georgia" pitchFamily="34" charset="0"/>
                <a:ea typeface="Georgia" pitchFamily="34" charset="-122"/>
                <a:cs typeface="Georgia" pitchFamily="34" charset="-120"/>
              </a:rPr>
              <a:t>Website</a:t>
            </a:r>
            <a:endParaRPr lang="en-US" sz="1200" dirty="0"/>
          </a:p>
        </p:txBody>
      </p:sp>
      <p:sp>
        <p:nvSpPr>
          <p:cNvPr id="20" name="Text 18"/>
          <p:cNvSpPr/>
          <p:nvPr/>
        </p:nvSpPr>
        <p:spPr>
          <a:xfrm>
            <a:off x="3611880" y="3401568"/>
            <a:ext cx="4572000" cy="292608"/>
          </a:xfrm>
          <a:prstGeom prst="rect">
            <a:avLst/>
          </a:prstGeom>
          <a:noFill/>
          <a:ln/>
        </p:spPr>
        <p:txBody>
          <a:bodyPr wrap="square" lIns="0" tIns="0" rIns="0" bIns="0" rtlCol="0" anchor="ctr"/>
          <a:lstStyle/>
          <a:p>
            <a:pPr indent="0" marL="0">
              <a:buNone/>
            </a:pPr>
            <a:r>
              <a:rPr lang="en-US" sz="900" dirty="0">
                <a:solidFill>
                  <a:srgbClr val="7A6B6B"/>
                </a:solidFill>
                <a:latin typeface="Calibri Light" pitchFamily="34" charset="0"/>
                <a:ea typeface="Calibri Light" pitchFamily="34" charset="-122"/>
                <a:cs typeface="Calibri Light" pitchFamily="34" charset="-120"/>
              </a:rPr>
              <a:t>rondahub.com — Landing page con la misma identidad visual. Georgia para títulos, Calibri para cuerpo.</a:t>
            </a:r>
            <a:endParaRPr lang="en-US" sz="900" dirty="0"/>
          </a:p>
        </p:txBody>
      </p:sp>
      <p:sp>
        <p:nvSpPr>
          <p:cNvPr id="21" name="Shape 19"/>
          <p:cNvSpPr/>
          <p:nvPr/>
        </p:nvSpPr>
        <p:spPr>
          <a:xfrm>
            <a:off x="3383280" y="3886200"/>
            <a:ext cx="5029200" cy="640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Text 20"/>
          <p:cNvSpPr/>
          <p:nvPr/>
        </p:nvSpPr>
        <p:spPr>
          <a:xfrm>
            <a:off x="3611880" y="3959352"/>
            <a:ext cx="4572000" cy="228600"/>
          </a:xfrm>
          <a:prstGeom prst="rect">
            <a:avLst/>
          </a:prstGeom>
          <a:noFill/>
          <a:ln/>
        </p:spPr>
        <p:txBody>
          <a:bodyPr wrap="square" lIns="0" tIns="0" rIns="0" bIns="0" rtlCol="0" anchor="ctr"/>
          <a:lstStyle/>
          <a:p>
            <a:pPr indent="0" marL="0">
              <a:buNone/>
            </a:pPr>
            <a:r>
              <a:rPr lang="en-US" sz="1200" b="1" dirty="0">
                <a:solidFill>
                  <a:srgbClr val="4A3035"/>
                </a:solidFill>
                <a:latin typeface="Georgia" pitchFamily="34" charset="0"/>
                <a:ea typeface="Georgia" pitchFamily="34" charset="-122"/>
                <a:cs typeface="Georgia" pitchFamily="34" charset="-120"/>
              </a:rPr>
              <a:t>Comunicaciones</a:t>
            </a:r>
            <a:endParaRPr lang="en-US" sz="1200" dirty="0"/>
          </a:p>
        </p:txBody>
      </p:sp>
      <p:sp>
        <p:nvSpPr>
          <p:cNvPr id="23" name="Text 21"/>
          <p:cNvSpPr/>
          <p:nvPr/>
        </p:nvSpPr>
        <p:spPr>
          <a:xfrm>
            <a:off x="3611880" y="4178808"/>
            <a:ext cx="4572000" cy="292608"/>
          </a:xfrm>
          <a:prstGeom prst="rect">
            <a:avLst/>
          </a:prstGeom>
          <a:noFill/>
          <a:ln/>
        </p:spPr>
        <p:txBody>
          <a:bodyPr wrap="square" lIns="0" tIns="0" rIns="0" bIns="0" rtlCol="0" anchor="ctr"/>
          <a:lstStyle/>
          <a:p>
            <a:pPr indent="0" marL="0">
              <a:buNone/>
            </a:pPr>
            <a:r>
              <a:rPr lang="en-US" sz="900" dirty="0">
                <a:solidFill>
                  <a:srgbClr val="7A6B6B"/>
                </a:solidFill>
                <a:latin typeface="Calibri Light" pitchFamily="34" charset="0"/>
                <a:ea typeface="Calibri Light" pitchFamily="34" charset="-122"/>
                <a:cs typeface="Calibri Light" pitchFamily="34" charset="-120"/>
              </a:rPr>
              <a:t>Emails, newsletters y notificaciones con tono cálido, cercano y empoderado. Siempre en positivo.</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7D4E57"/>
        </a:solidFill>
      </p:bgPr>
    </p:bg>
    <p:spTree>
      <p:nvGrpSpPr>
        <p:cNvPr id="1" name=""/>
        <p:cNvGrpSpPr/>
        <p:nvPr/>
      </p:nvGrpSpPr>
      <p:grpSpPr>
        <a:xfrm>
          <a:off x="0" y="0"/>
          <a:ext cx="0" cy="0"/>
          <a:chOff x="0" y="0"/>
          <a:chExt cx="0" cy="0"/>
        </a:xfrm>
      </p:grpSpPr>
      <p:sp>
        <p:nvSpPr>
          <p:cNvPr id="2" name="Shape 0"/>
          <p:cNvSpPr/>
          <p:nvPr/>
        </p:nvSpPr>
        <p:spPr>
          <a:xfrm>
            <a:off x="2743200" y="457200"/>
            <a:ext cx="3657600" cy="3657600"/>
          </a:xfrm>
          <a:prstGeom prst="ellipse">
            <a:avLst/>
          </a:prstGeom>
          <a:solidFill>
            <a:srgbClr val="C4908A">
              <a:alpha val="15000"/>
            </a:srgbClr>
          </a:solidFill>
          <a:ln/>
        </p:spPr>
      </p:sp>
      <p:sp>
        <p:nvSpPr>
          <p:cNvPr id="3" name="Shape 1"/>
          <p:cNvSpPr/>
          <p:nvPr/>
        </p:nvSpPr>
        <p:spPr>
          <a:xfrm>
            <a:off x="3200400" y="914400"/>
            <a:ext cx="2743200" cy="2743200"/>
          </a:xfrm>
          <a:prstGeom prst="ellipse">
            <a:avLst/>
          </a:prstGeom>
          <a:solidFill>
            <a:srgbClr val="C9A96E">
              <a:alpha val="12000"/>
            </a:srgbClr>
          </a:solidFill>
          <a:ln/>
        </p:spPr>
      </p:sp>
      <p:sp>
        <p:nvSpPr>
          <p:cNvPr id="4" name="Text 2"/>
          <p:cNvSpPr/>
          <p:nvPr/>
        </p:nvSpPr>
        <p:spPr>
          <a:xfrm>
            <a:off x="914400" y="1371600"/>
            <a:ext cx="7315200" cy="914400"/>
          </a:xfrm>
          <a:prstGeom prst="rect">
            <a:avLst/>
          </a:prstGeom>
          <a:noFill/>
          <a:ln/>
        </p:spPr>
        <p:txBody>
          <a:bodyPr wrap="square" lIns="0" tIns="0" rIns="0" bIns="0" rtlCol="0" anchor="ctr"/>
          <a:lstStyle/>
          <a:p>
            <a:pPr algn="ctr" indent="0" marL="0">
              <a:buNone/>
            </a:pPr>
            <a:r>
              <a:rPr lang="en-US" sz="5200" b="1" spc="1000" kern="0" dirty="0">
                <a:solidFill>
                  <a:srgbClr val="FDF8F4"/>
                </a:solidFill>
                <a:latin typeface="Georgia" pitchFamily="34" charset="0"/>
                <a:ea typeface="Georgia" pitchFamily="34" charset="-122"/>
                <a:cs typeface="Georgia" pitchFamily="34" charset="-120"/>
              </a:rPr>
              <a:t>RONDA</a:t>
            </a:r>
            <a:endParaRPr lang="en-US" sz="5200" dirty="0"/>
          </a:p>
        </p:txBody>
      </p:sp>
      <p:sp>
        <p:nvSpPr>
          <p:cNvPr id="5" name="Shape 3"/>
          <p:cNvSpPr/>
          <p:nvPr/>
        </p:nvSpPr>
        <p:spPr>
          <a:xfrm>
            <a:off x="3657600" y="2377440"/>
            <a:ext cx="1828800" cy="36576"/>
          </a:xfrm>
          <a:prstGeom prst="rect">
            <a:avLst/>
          </a:prstGeom>
          <a:solidFill>
            <a:srgbClr val="C9A96E"/>
          </a:solidFill>
          <a:ln/>
        </p:spPr>
      </p:sp>
      <p:sp>
        <p:nvSpPr>
          <p:cNvPr id="6" name="Text 4"/>
          <p:cNvSpPr/>
          <p:nvPr/>
        </p:nvSpPr>
        <p:spPr>
          <a:xfrm>
            <a:off x="914400" y="2560320"/>
            <a:ext cx="7315200" cy="548640"/>
          </a:xfrm>
          <a:prstGeom prst="rect">
            <a:avLst/>
          </a:prstGeom>
          <a:noFill/>
          <a:ln/>
        </p:spPr>
        <p:txBody>
          <a:bodyPr wrap="square" lIns="0" tIns="0" rIns="0" bIns="0" rtlCol="0" anchor="ctr"/>
          <a:lstStyle/>
          <a:p>
            <a:pPr algn="ctr" indent="0" marL="0">
              <a:buNone/>
            </a:pPr>
            <a:r>
              <a:rPr lang="en-US" sz="2000" i="1" dirty="0">
                <a:solidFill>
                  <a:srgbClr val="E8C4C0"/>
                </a:solidFill>
                <a:latin typeface="Georgia" pitchFamily="34" charset="0"/>
                <a:ea typeface="Georgia" pitchFamily="34" charset="-122"/>
                <a:cs typeface="Georgia" pitchFamily="34" charset="-120"/>
              </a:rPr>
              <a:t>Creces tú, crecemos todas.</a:t>
            </a:r>
            <a:endParaRPr lang="en-US" sz="2000" dirty="0"/>
          </a:p>
        </p:txBody>
      </p:sp>
      <p:sp>
        <p:nvSpPr>
          <p:cNvPr id="7" name="Text 5"/>
          <p:cNvSpPr/>
          <p:nvPr/>
        </p:nvSpPr>
        <p:spPr>
          <a:xfrm>
            <a:off x="914400" y="3017520"/>
            <a:ext cx="7315200" cy="365760"/>
          </a:xfrm>
          <a:prstGeom prst="rect">
            <a:avLst/>
          </a:prstGeom>
          <a:noFill/>
          <a:ln/>
        </p:spPr>
        <p:txBody>
          <a:bodyPr wrap="square" lIns="0" tIns="0" rIns="0" bIns="0" rtlCol="0" anchor="ctr"/>
          <a:lstStyle/>
          <a:p>
            <a:pPr algn="ctr" indent="0" marL="0">
              <a:buNone/>
            </a:pPr>
            <a:r>
              <a:rPr lang="en-US" sz="1400" i="1" dirty="0">
                <a:solidFill>
                  <a:srgbClr val="E8D5A8"/>
                </a:solidFill>
                <a:latin typeface="Calibri Light" pitchFamily="34" charset="0"/>
                <a:ea typeface="Calibri Light" pitchFamily="34" charset="-122"/>
                <a:cs typeface="Calibri Light" pitchFamily="34" charset="-120"/>
              </a:rPr>
              <a:t>You grow, we all grow.</a:t>
            </a:r>
            <a:endParaRPr lang="en-US" sz="1400" dirty="0"/>
          </a:p>
        </p:txBody>
      </p:sp>
      <p:sp>
        <p:nvSpPr>
          <p:cNvPr id="8" name="Text 6"/>
          <p:cNvSpPr/>
          <p:nvPr/>
        </p:nvSpPr>
        <p:spPr>
          <a:xfrm>
            <a:off x="914400" y="4114800"/>
            <a:ext cx="7315200" cy="274320"/>
          </a:xfrm>
          <a:prstGeom prst="rect">
            <a:avLst/>
          </a:prstGeom>
          <a:noFill/>
          <a:ln/>
        </p:spPr>
        <p:txBody>
          <a:bodyPr wrap="square" lIns="0" tIns="0" rIns="0" bIns="0" rtlCol="0" anchor="ctr"/>
          <a:lstStyle/>
          <a:p>
            <a:pPr algn="ctr" indent="0" marL="0">
              <a:buNone/>
            </a:pPr>
            <a:r>
              <a:rPr lang="en-US" sz="1200" dirty="0">
                <a:solidFill>
                  <a:srgbClr val="B5A5A5"/>
                </a:solidFill>
                <a:latin typeface="Calibri" pitchFamily="34" charset="0"/>
                <a:ea typeface="Calibri" pitchFamily="34" charset="-122"/>
                <a:cs typeface="Calibri" pitchFamily="34" charset="-120"/>
              </a:rPr>
              <a:t>rondahub.com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Ronda - Brand Book</dc:title>
  <dc:subject>PptxGenJS Presentation</dc:subject>
  <dc:creator>Ronda</dc:creator>
  <cp:lastModifiedBy>Ronda</cp:lastModifiedBy>
  <cp:revision>1</cp:revision>
  <dcterms:created xsi:type="dcterms:W3CDTF">2026-03-13T00:55:05Z</dcterms:created>
  <dcterms:modified xsi:type="dcterms:W3CDTF">2026-03-13T00:55:05Z</dcterms:modified>
</cp:coreProperties>
</file>